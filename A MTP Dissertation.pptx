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1"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B7CBA92-FB18-46EC-AC29-052EAB320D3A}">
  <a:tblStyle styleId="{6B7CBA92-FB18-46EC-AC29-052EAB320D3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DC95D008-48EC-41BC-B549-CE9E3AA9ABCF}"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5E136EF-3C0E-4DC1-B060-A46EE87DC9C4}" styleName="Table_2">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h70fd4342c69c3625_0_134:notes"/>
          <p:cNvSpPr/>
          <p:nvPr>
            <p:ph idx="2" type="sldImg"/>
          </p:nvPr>
        </p:nvSpPr>
        <p:spPr>
          <a:xfrm>
            <a:off x="136425" y="686688"/>
            <a:ext cx="6585300" cy="3427800"/>
          </a:xfrm>
          <a:custGeom>
            <a:rect b="b" l="l" r="r" t="t"/>
            <a:pathLst>
              <a:path extrusionOk="0" h="120000" w="120000">
                <a:moveTo>
                  <a:pt x="0" y="0"/>
                </a:moveTo>
                <a:lnTo>
                  <a:pt x="120000" y="0"/>
                </a:lnTo>
                <a:lnTo>
                  <a:pt x="120000" y="120000"/>
                </a:lnTo>
                <a:lnTo>
                  <a:pt x="0" y="120000"/>
                </a:lnTo>
                <a:close/>
              </a:path>
            </a:pathLst>
          </a:custGeom>
          <a:noFill/>
          <a:ln cap="flat" cmpd="sng" w="11950">
            <a:solidFill>
              <a:srgbClr val="000000"/>
            </a:solidFill>
            <a:prstDash val="solid"/>
            <a:round/>
            <a:headEnd len="sm" w="sm" type="none"/>
            <a:tailEnd len="sm" w="sm" type="none"/>
          </a:ln>
        </p:spPr>
      </p:sp>
      <p:sp>
        <p:nvSpPr>
          <p:cNvPr id="131" name="Google Shape;131;h70fd4342c69c3625_0_134:notes"/>
          <p:cNvSpPr txBox="1"/>
          <p:nvPr>
            <p:ph idx="1" type="body"/>
          </p:nvPr>
        </p:nvSpPr>
        <p:spPr>
          <a:xfrm>
            <a:off x="685800" y="4343405"/>
            <a:ext cx="5486400" cy="4114800"/>
          </a:xfrm>
          <a:prstGeom prst="rect">
            <a:avLst/>
          </a:prstGeom>
          <a:noFill/>
          <a:ln>
            <a:noFill/>
          </a:ln>
        </p:spPr>
        <p:txBody>
          <a:bodyPr anchorCtr="0" anchor="t" bIns="93250" lIns="93250" spcFirstLastPara="1" rIns="93250" wrap="square" tIns="9325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h70fd4342c69c3625_0_140:notes"/>
          <p:cNvSpPr txBox="1"/>
          <p:nvPr>
            <p:ph idx="1" type="body"/>
          </p:nvPr>
        </p:nvSpPr>
        <p:spPr>
          <a:xfrm>
            <a:off x="685800" y="4400555"/>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h70fd4342c69c3625_0_140:notes"/>
          <p:cNvSpPr/>
          <p:nvPr>
            <p:ph idx="2" type="sldImg"/>
          </p:nvPr>
        </p:nvSpPr>
        <p:spPr>
          <a:xfrm>
            <a:off x="465988" y="1143533"/>
            <a:ext cx="59262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h70fd4342c69c3625_0_145:notes"/>
          <p:cNvSpPr txBox="1"/>
          <p:nvPr>
            <p:ph idx="1" type="body"/>
          </p:nvPr>
        </p:nvSpPr>
        <p:spPr>
          <a:xfrm>
            <a:off x="685800" y="4400555"/>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h70fd4342c69c3625_0_145:notes"/>
          <p:cNvSpPr/>
          <p:nvPr>
            <p:ph idx="2" type="sldImg"/>
          </p:nvPr>
        </p:nvSpPr>
        <p:spPr>
          <a:xfrm>
            <a:off x="465988" y="1143533"/>
            <a:ext cx="59262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h70fd4342c69c3625_0_150:notes"/>
          <p:cNvSpPr txBox="1"/>
          <p:nvPr>
            <p:ph idx="1" type="body"/>
          </p:nvPr>
        </p:nvSpPr>
        <p:spPr>
          <a:xfrm>
            <a:off x="685800" y="4400555"/>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h70fd4342c69c3625_0_150:notes"/>
          <p:cNvSpPr/>
          <p:nvPr>
            <p:ph idx="2" type="sldImg"/>
          </p:nvPr>
        </p:nvSpPr>
        <p:spPr>
          <a:xfrm>
            <a:off x="465988" y="1143533"/>
            <a:ext cx="59262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h70fd4342c69c3625_0_155:notes"/>
          <p:cNvSpPr txBox="1"/>
          <p:nvPr>
            <p:ph idx="1" type="body"/>
          </p:nvPr>
        </p:nvSpPr>
        <p:spPr>
          <a:xfrm>
            <a:off x="685800" y="4400555"/>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h70fd4342c69c3625_0_155:notes"/>
          <p:cNvSpPr/>
          <p:nvPr>
            <p:ph idx="2" type="sldImg"/>
          </p:nvPr>
        </p:nvSpPr>
        <p:spPr>
          <a:xfrm>
            <a:off x="465988" y="1143533"/>
            <a:ext cx="59262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h141f6fb53eb5048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h141f6fb53eb504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h70fd4342c69c3625_0_159:notes"/>
          <p:cNvSpPr txBox="1"/>
          <p:nvPr>
            <p:ph idx="1" type="body"/>
          </p:nvPr>
        </p:nvSpPr>
        <p:spPr>
          <a:xfrm>
            <a:off x="685800" y="4400555"/>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h70fd4342c69c3625_0_159:notes"/>
          <p:cNvSpPr/>
          <p:nvPr>
            <p:ph idx="2" type="sldImg"/>
          </p:nvPr>
        </p:nvSpPr>
        <p:spPr>
          <a:xfrm>
            <a:off x="465988" y="1143533"/>
            <a:ext cx="59262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h47fd38bd8fd6560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h47fd38bd8fd656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h70fd4342c69c3625_0_164:notes"/>
          <p:cNvSpPr txBox="1"/>
          <p:nvPr>
            <p:ph idx="1" type="body"/>
          </p:nvPr>
        </p:nvSpPr>
        <p:spPr>
          <a:xfrm>
            <a:off x="685800" y="4400555"/>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h70fd4342c69c3625_0_164:notes"/>
          <p:cNvSpPr/>
          <p:nvPr>
            <p:ph idx="2" type="sldImg"/>
          </p:nvPr>
        </p:nvSpPr>
        <p:spPr>
          <a:xfrm>
            <a:off x="465988" y="1143533"/>
            <a:ext cx="59262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h70fd4342c69c3625_0_169:notes"/>
          <p:cNvSpPr/>
          <p:nvPr>
            <p:ph idx="2" type="sldImg"/>
          </p:nvPr>
        </p:nvSpPr>
        <p:spPr>
          <a:xfrm>
            <a:off x="136425" y="686688"/>
            <a:ext cx="6585300" cy="3427800"/>
          </a:xfrm>
          <a:custGeom>
            <a:rect b="b" l="l" r="r" t="t"/>
            <a:pathLst>
              <a:path extrusionOk="0" h="120000" w="120000">
                <a:moveTo>
                  <a:pt x="0" y="0"/>
                </a:moveTo>
                <a:lnTo>
                  <a:pt x="120000" y="0"/>
                </a:lnTo>
                <a:lnTo>
                  <a:pt x="120000" y="120000"/>
                </a:lnTo>
                <a:lnTo>
                  <a:pt x="0" y="120000"/>
                </a:lnTo>
                <a:close/>
              </a:path>
            </a:pathLst>
          </a:custGeom>
          <a:noFill/>
          <a:ln cap="flat" cmpd="sng" w="11950">
            <a:solidFill>
              <a:srgbClr val="000000"/>
            </a:solidFill>
            <a:prstDash val="solid"/>
            <a:round/>
            <a:headEnd len="sm" w="sm" type="none"/>
            <a:tailEnd len="sm" w="sm" type="none"/>
          </a:ln>
        </p:spPr>
      </p:sp>
      <p:sp>
        <p:nvSpPr>
          <p:cNvPr id="192" name="Google Shape;192;h70fd4342c69c3625_0_169:notes"/>
          <p:cNvSpPr txBox="1"/>
          <p:nvPr>
            <p:ph idx="1" type="body"/>
          </p:nvPr>
        </p:nvSpPr>
        <p:spPr>
          <a:xfrm>
            <a:off x="685800" y="4343405"/>
            <a:ext cx="5486400" cy="4114800"/>
          </a:xfrm>
          <a:prstGeom prst="rect">
            <a:avLst/>
          </a:prstGeom>
          <a:noFill/>
          <a:ln>
            <a:noFill/>
          </a:ln>
        </p:spPr>
        <p:txBody>
          <a:bodyPr anchorCtr="0" anchor="t" bIns="93250" lIns="93250" spcFirstLastPara="1" rIns="93250" wrap="square" tIns="9325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h70fd4342c69c3625_0_174:notes"/>
          <p:cNvSpPr txBox="1"/>
          <p:nvPr>
            <p:ph idx="1" type="body"/>
          </p:nvPr>
        </p:nvSpPr>
        <p:spPr>
          <a:xfrm>
            <a:off x="685800" y="4400555"/>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h70fd4342c69c3625_0_174:notes"/>
          <p:cNvSpPr/>
          <p:nvPr>
            <p:ph idx="2" type="sldImg"/>
          </p:nvPr>
        </p:nvSpPr>
        <p:spPr>
          <a:xfrm>
            <a:off x="465988" y="1143533"/>
            <a:ext cx="59262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h70fd4342c69c3625_0_179:notes"/>
          <p:cNvSpPr txBox="1"/>
          <p:nvPr>
            <p:ph idx="1" type="body"/>
          </p:nvPr>
        </p:nvSpPr>
        <p:spPr>
          <a:xfrm>
            <a:off x="685800" y="4400555"/>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h70fd4342c69c3625_0_179:notes"/>
          <p:cNvSpPr/>
          <p:nvPr>
            <p:ph idx="2" type="sldImg"/>
          </p:nvPr>
        </p:nvSpPr>
        <p:spPr>
          <a:xfrm>
            <a:off x="465988" y="1143533"/>
            <a:ext cx="59262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8" name="Google Shape;58;p14"/>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59" name="Google Shape;59;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solidFill>
                  <a:srgbClr val="233A44"/>
                </a:solidFill>
              </a:defRPr>
            </a:lvl1pPr>
            <a:lvl2pPr indent="0" lvl="1" marL="0" algn="r">
              <a:spcBef>
                <a:spcPts val="0"/>
              </a:spcBef>
              <a:buNone/>
              <a:defRPr>
                <a:solidFill>
                  <a:srgbClr val="233A44"/>
                </a:solidFill>
              </a:defRPr>
            </a:lvl2pPr>
            <a:lvl3pPr indent="0" lvl="2" marL="0" algn="r">
              <a:spcBef>
                <a:spcPts val="0"/>
              </a:spcBef>
              <a:buNone/>
              <a:defRPr>
                <a:solidFill>
                  <a:srgbClr val="233A44"/>
                </a:solidFill>
              </a:defRPr>
            </a:lvl3pPr>
            <a:lvl4pPr indent="0" lvl="3" marL="0" algn="r">
              <a:spcBef>
                <a:spcPts val="0"/>
              </a:spcBef>
              <a:buNone/>
              <a:defRPr>
                <a:solidFill>
                  <a:srgbClr val="233A44"/>
                </a:solidFill>
              </a:defRPr>
            </a:lvl4pPr>
            <a:lvl5pPr indent="0" lvl="4" marL="0" algn="r">
              <a:spcBef>
                <a:spcPts val="0"/>
              </a:spcBef>
              <a:buNone/>
              <a:defRPr>
                <a:solidFill>
                  <a:srgbClr val="233A44"/>
                </a:solidFill>
              </a:defRPr>
            </a:lvl5pPr>
            <a:lvl6pPr indent="0" lvl="5" marL="0" algn="r">
              <a:spcBef>
                <a:spcPts val="0"/>
              </a:spcBef>
              <a:buNone/>
              <a:defRPr>
                <a:solidFill>
                  <a:srgbClr val="233A44"/>
                </a:solidFill>
              </a:defRPr>
            </a:lvl6pPr>
            <a:lvl7pPr indent="0" lvl="6" marL="0" algn="r">
              <a:spcBef>
                <a:spcPts val="0"/>
              </a:spcBef>
              <a:buNone/>
              <a:defRPr>
                <a:solidFill>
                  <a:srgbClr val="233A44"/>
                </a:solidFill>
              </a:defRPr>
            </a:lvl7pPr>
            <a:lvl8pPr indent="0" lvl="7" marL="0" algn="r">
              <a:spcBef>
                <a:spcPts val="0"/>
              </a:spcBef>
              <a:buNone/>
              <a:defRPr>
                <a:solidFill>
                  <a:srgbClr val="233A44"/>
                </a:solidFill>
              </a:defRPr>
            </a:lvl8pPr>
            <a:lvl9pPr indent="0" lvl="8" marL="0" algn="r">
              <a:spcBef>
                <a:spcPts val="0"/>
              </a:spcBef>
              <a:buNone/>
              <a:defRPr>
                <a:solidFill>
                  <a:srgbClr val="233A44"/>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4" name="Google Shape;64;p1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 name="Google Shape;65;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solidFill>
                  <a:srgbClr val="233A44"/>
                </a:solidFill>
              </a:defRPr>
            </a:lvl1pPr>
            <a:lvl2pPr indent="0" lvl="1" marL="0" algn="r">
              <a:spcBef>
                <a:spcPts val="0"/>
              </a:spcBef>
              <a:buNone/>
              <a:defRPr>
                <a:solidFill>
                  <a:srgbClr val="233A44"/>
                </a:solidFill>
              </a:defRPr>
            </a:lvl2pPr>
            <a:lvl3pPr indent="0" lvl="2" marL="0" algn="r">
              <a:spcBef>
                <a:spcPts val="0"/>
              </a:spcBef>
              <a:buNone/>
              <a:defRPr>
                <a:solidFill>
                  <a:srgbClr val="233A44"/>
                </a:solidFill>
              </a:defRPr>
            </a:lvl3pPr>
            <a:lvl4pPr indent="0" lvl="3" marL="0" algn="r">
              <a:spcBef>
                <a:spcPts val="0"/>
              </a:spcBef>
              <a:buNone/>
              <a:defRPr>
                <a:solidFill>
                  <a:srgbClr val="233A44"/>
                </a:solidFill>
              </a:defRPr>
            </a:lvl4pPr>
            <a:lvl5pPr indent="0" lvl="4" marL="0" algn="r">
              <a:spcBef>
                <a:spcPts val="0"/>
              </a:spcBef>
              <a:buNone/>
              <a:defRPr>
                <a:solidFill>
                  <a:srgbClr val="233A44"/>
                </a:solidFill>
              </a:defRPr>
            </a:lvl5pPr>
            <a:lvl6pPr indent="0" lvl="5" marL="0" algn="r">
              <a:spcBef>
                <a:spcPts val="0"/>
              </a:spcBef>
              <a:buNone/>
              <a:defRPr>
                <a:solidFill>
                  <a:srgbClr val="233A44"/>
                </a:solidFill>
              </a:defRPr>
            </a:lvl6pPr>
            <a:lvl7pPr indent="0" lvl="6" marL="0" algn="r">
              <a:spcBef>
                <a:spcPts val="0"/>
              </a:spcBef>
              <a:buNone/>
              <a:defRPr>
                <a:solidFill>
                  <a:srgbClr val="233A44"/>
                </a:solidFill>
              </a:defRPr>
            </a:lvl7pPr>
            <a:lvl8pPr indent="0" lvl="7" marL="0" algn="r">
              <a:spcBef>
                <a:spcPts val="0"/>
              </a:spcBef>
              <a:buNone/>
              <a:defRPr>
                <a:solidFill>
                  <a:srgbClr val="233A44"/>
                </a:solidFill>
              </a:defRPr>
            </a:lvl8pPr>
            <a:lvl9pPr indent="0" lvl="8" marL="0" algn="r">
              <a:spcBef>
                <a:spcPts val="0"/>
              </a:spcBef>
              <a:buNone/>
              <a:defRPr>
                <a:solidFill>
                  <a:srgbClr val="233A44"/>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8" name="Shape 68"/>
        <p:cNvGrpSpPr/>
        <p:nvPr/>
      </p:nvGrpSpPr>
      <p:grpSpPr>
        <a:xfrm>
          <a:off x="0" y="0"/>
          <a:ext cx="0" cy="0"/>
          <a:chOff x="0" y="0"/>
          <a:chExt cx="0" cy="0"/>
        </a:xfrm>
      </p:grpSpPr>
      <p:sp>
        <p:nvSpPr>
          <p:cNvPr id="69" name="Google Shape;69;p16"/>
          <p:cNvSpPr txBox="1"/>
          <p:nvPr>
            <p:ph type="title"/>
          </p:nvPr>
        </p:nvSpPr>
        <p:spPr>
          <a:xfrm>
            <a:off x="819150" y="845600"/>
            <a:ext cx="7505700" cy="954600"/>
          </a:xfrm>
          <a:prstGeom prst="rect">
            <a:avLst/>
          </a:prstGeom>
          <a:noFill/>
          <a:ln>
            <a:noFill/>
          </a:ln>
        </p:spPr>
        <p:txBody>
          <a:bodyPr anchorCtr="0" anchor="t" bIns="68575" lIns="68575" spcFirstLastPara="1" rIns="68575" wrap="square" tIns="68575">
            <a:normAutofit/>
          </a:bodyPr>
          <a:lstStyle>
            <a:lvl1pPr lvl="0" algn="l">
              <a:lnSpc>
                <a:spcPct val="90000"/>
              </a:lnSpc>
              <a:spcBef>
                <a:spcPts val="0"/>
              </a:spcBef>
              <a:spcAft>
                <a:spcPts val="0"/>
              </a:spcAft>
              <a:buClr>
                <a:schemeClr val="dk1"/>
              </a:buClr>
              <a:buSzPts val="2300"/>
              <a:buFont typeface="Calibri"/>
              <a:buNone/>
              <a:defRPr sz="3000"/>
            </a:lvl1pPr>
            <a:lvl2pPr lvl="1">
              <a:spcBef>
                <a:spcPts val="0"/>
              </a:spcBef>
              <a:spcAft>
                <a:spcPts val="0"/>
              </a:spcAft>
              <a:buSzPts val="2300"/>
              <a:buNone/>
              <a:defRPr sz="3000"/>
            </a:lvl2pPr>
            <a:lvl3pPr lvl="2">
              <a:spcBef>
                <a:spcPts val="0"/>
              </a:spcBef>
              <a:spcAft>
                <a:spcPts val="0"/>
              </a:spcAft>
              <a:buSzPts val="2300"/>
              <a:buNone/>
              <a:defRPr sz="3000"/>
            </a:lvl3pPr>
            <a:lvl4pPr lvl="3">
              <a:spcBef>
                <a:spcPts val="0"/>
              </a:spcBef>
              <a:spcAft>
                <a:spcPts val="0"/>
              </a:spcAft>
              <a:buSzPts val="2300"/>
              <a:buNone/>
              <a:defRPr sz="3000"/>
            </a:lvl4pPr>
            <a:lvl5pPr lvl="4">
              <a:spcBef>
                <a:spcPts val="0"/>
              </a:spcBef>
              <a:spcAft>
                <a:spcPts val="0"/>
              </a:spcAft>
              <a:buSzPts val="2300"/>
              <a:buNone/>
              <a:defRPr sz="3000"/>
            </a:lvl5pPr>
            <a:lvl6pPr lvl="5">
              <a:spcBef>
                <a:spcPts val="0"/>
              </a:spcBef>
              <a:spcAft>
                <a:spcPts val="0"/>
              </a:spcAft>
              <a:buSzPts val="2300"/>
              <a:buNone/>
              <a:defRPr sz="3000"/>
            </a:lvl6pPr>
            <a:lvl7pPr lvl="6">
              <a:spcBef>
                <a:spcPts val="0"/>
              </a:spcBef>
              <a:spcAft>
                <a:spcPts val="0"/>
              </a:spcAft>
              <a:buSzPts val="2300"/>
              <a:buNone/>
              <a:defRPr sz="3000"/>
            </a:lvl7pPr>
            <a:lvl8pPr lvl="7">
              <a:spcBef>
                <a:spcPts val="0"/>
              </a:spcBef>
              <a:spcAft>
                <a:spcPts val="0"/>
              </a:spcAft>
              <a:buSzPts val="2300"/>
              <a:buNone/>
              <a:defRPr sz="3000"/>
            </a:lvl8pPr>
            <a:lvl9pPr lvl="8">
              <a:spcBef>
                <a:spcPts val="0"/>
              </a:spcBef>
              <a:spcAft>
                <a:spcPts val="0"/>
              </a:spcAft>
              <a:buSzPts val="2300"/>
              <a:buNone/>
              <a:defRPr sz="3000"/>
            </a:lvl9pPr>
          </a:lstStyle>
          <a:p/>
        </p:txBody>
      </p:sp>
      <p:sp>
        <p:nvSpPr>
          <p:cNvPr id="70" name="Google Shape;70;p16"/>
          <p:cNvSpPr txBox="1"/>
          <p:nvPr>
            <p:ph idx="1" type="body"/>
          </p:nvPr>
        </p:nvSpPr>
        <p:spPr>
          <a:xfrm>
            <a:off x="819150" y="1990725"/>
            <a:ext cx="7505700" cy="2448000"/>
          </a:xfrm>
          <a:prstGeom prst="rect">
            <a:avLst/>
          </a:prstGeom>
          <a:noFill/>
          <a:ln>
            <a:noFill/>
          </a:ln>
        </p:spPr>
        <p:txBody>
          <a:bodyPr anchorCtr="0" anchor="t" bIns="68575" lIns="68575" spcFirstLastPara="1" rIns="68575" wrap="square" tIns="68575">
            <a:normAutofit/>
          </a:bodyPr>
          <a:lstStyle>
            <a:lvl1pPr indent="-292100" lvl="0" marL="457200" algn="l">
              <a:lnSpc>
                <a:spcPct val="90000"/>
              </a:lnSpc>
              <a:spcBef>
                <a:spcPts val="0"/>
              </a:spcBef>
              <a:spcAft>
                <a:spcPts val="0"/>
              </a:spcAft>
              <a:buClr>
                <a:schemeClr val="dk1"/>
              </a:buClr>
              <a:buSzPts val="1000"/>
              <a:buChar char="●"/>
              <a:defRPr/>
            </a:lvl1pPr>
            <a:lvl2pPr indent="-279400" lvl="1" marL="914400" algn="l">
              <a:lnSpc>
                <a:spcPct val="90000"/>
              </a:lnSpc>
              <a:spcBef>
                <a:spcPts val="0"/>
              </a:spcBef>
              <a:spcAft>
                <a:spcPts val="0"/>
              </a:spcAft>
              <a:buClr>
                <a:schemeClr val="dk1"/>
              </a:buClr>
              <a:buSzPts val="800"/>
              <a:buChar char="○"/>
              <a:defRPr/>
            </a:lvl2pPr>
            <a:lvl3pPr indent="-279400" lvl="2" marL="1371600" algn="l">
              <a:lnSpc>
                <a:spcPct val="90000"/>
              </a:lnSpc>
              <a:spcBef>
                <a:spcPts val="0"/>
              </a:spcBef>
              <a:spcAft>
                <a:spcPts val="0"/>
              </a:spcAft>
              <a:buClr>
                <a:schemeClr val="dk1"/>
              </a:buClr>
              <a:buSzPts val="800"/>
              <a:buChar char="■"/>
              <a:defRPr/>
            </a:lvl3pPr>
            <a:lvl4pPr indent="-279400" lvl="3" marL="1828800" algn="l">
              <a:lnSpc>
                <a:spcPct val="90000"/>
              </a:lnSpc>
              <a:spcBef>
                <a:spcPts val="0"/>
              </a:spcBef>
              <a:spcAft>
                <a:spcPts val="0"/>
              </a:spcAft>
              <a:buClr>
                <a:schemeClr val="dk1"/>
              </a:buClr>
              <a:buSzPts val="800"/>
              <a:buChar char="●"/>
              <a:defRPr/>
            </a:lvl4pPr>
            <a:lvl5pPr indent="-279400" lvl="4" marL="2286000" algn="l">
              <a:lnSpc>
                <a:spcPct val="90000"/>
              </a:lnSpc>
              <a:spcBef>
                <a:spcPts val="0"/>
              </a:spcBef>
              <a:spcAft>
                <a:spcPts val="0"/>
              </a:spcAft>
              <a:buClr>
                <a:schemeClr val="dk1"/>
              </a:buClr>
              <a:buSzPts val="800"/>
              <a:buChar char="○"/>
              <a:defRPr/>
            </a:lvl5pPr>
            <a:lvl6pPr indent="-279400" lvl="5" marL="2743200" algn="l">
              <a:lnSpc>
                <a:spcPct val="90000"/>
              </a:lnSpc>
              <a:spcBef>
                <a:spcPts val="0"/>
              </a:spcBef>
              <a:spcAft>
                <a:spcPts val="0"/>
              </a:spcAft>
              <a:buClr>
                <a:schemeClr val="dk1"/>
              </a:buClr>
              <a:buSzPts val="800"/>
              <a:buChar char="■"/>
              <a:defRPr/>
            </a:lvl6pPr>
            <a:lvl7pPr indent="-279400" lvl="6" marL="3200400" algn="l">
              <a:lnSpc>
                <a:spcPct val="90000"/>
              </a:lnSpc>
              <a:spcBef>
                <a:spcPts val="0"/>
              </a:spcBef>
              <a:spcAft>
                <a:spcPts val="0"/>
              </a:spcAft>
              <a:buClr>
                <a:schemeClr val="dk1"/>
              </a:buClr>
              <a:buSzPts val="800"/>
              <a:buChar char="●"/>
              <a:defRPr/>
            </a:lvl7pPr>
            <a:lvl8pPr indent="-279400" lvl="7" marL="3657600" algn="l">
              <a:lnSpc>
                <a:spcPct val="90000"/>
              </a:lnSpc>
              <a:spcBef>
                <a:spcPts val="0"/>
              </a:spcBef>
              <a:spcAft>
                <a:spcPts val="0"/>
              </a:spcAft>
              <a:buClr>
                <a:schemeClr val="dk1"/>
              </a:buClr>
              <a:buSzPts val="800"/>
              <a:buChar char="○"/>
              <a:defRPr/>
            </a:lvl8pPr>
            <a:lvl9pPr indent="-279400" lvl="8" marL="4114800" algn="l">
              <a:lnSpc>
                <a:spcPct val="90000"/>
              </a:lnSpc>
              <a:spcBef>
                <a:spcPts val="0"/>
              </a:spcBef>
              <a:spcAft>
                <a:spcPts val="0"/>
              </a:spcAft>
              <a:buClr>
                <a:schemeClr val="dk1"/>
              </a:buClr>
              <a:buSzPts val="800"/>
              <a:buChar char="■"/>
              <a:defRPr/>
            </a:lvl9pPr>
          </a:lstStyle>
          <a:p/>
        </p:txBody>
      </p:sp>
      <p:sp>
        <p:nvSpPr>
          <p:cNvPr id="71" name="Google Shape;71;p16"/>
          <p:cNvSpPr txBox="1"/>
          <p:nvPr>
            <p:ph idx="12" type="sldNum"/>
          </p:nvPr>
        </p:nvSpPr>
        <p:spPr>
          <a:xfrm>
            <a:off x="8390734" y="4543668"/>
            <a:ext cx="548700" cy="393600"/>
          </a:xfrm>
          <a:prstGeom prst="rect">
            <a:avLst/>
          </a:prstGeom>
          <a:noFill/>
          <a:ln>
            <a:noFill/>
          </a:ln>
        </p:spPr>
        <p:txBody>
          <a:bodyPr anchorCtr="0" anchor="ctr" bIns="68575" lIns="68575" spcFirstLastPara="1" rIns="68575" wrap="square" tIns="68575">
            <a:normAutofit/>
          </a:bodyPr>
          <a:lstStyle>
            <a:lvl1pPr indent="0" lvl="0" marL="0" marR="0" algn="r">
              <a:buClr>
                <a:srgbClr val="000000"/>
              </a:buClr>
              <a:buSzPts val="900"/>
              <a:buFont typeface="Calibri"/>
              <a:buNone/>
              <a:defRPr sz="900">
                <a:solidFill>
                  <a:srgbClr val="233A44"/>
                </a:solidFill>
                <a:latin typeface="Calibri"/>
                <a:ea typeface="Calibri"/>
                <a:cs typeface="Calibri"/>
                <a:sym typeface="Calibri"/>
              </a:defRPr>
            </a:lvl1pPr>
            <a:lvl2pPr indent="0" lvl="1" marL="0" marR="0" algn="r">
              <a:buClr>
                <a:srgbClr val="000000"/>
              </a:buClr>
              <a:buSzPts val="900"/>
              <a:buFont typeface="Calibri"/>
              <a:buNone/>
              <a:defRPr sz="900">
                <a:solidFill>
                  <a:srgbClr val="233A44"/>
                </a:solidFill>
                <a:latin typeface="Calibri"/>
                <a:ea typeface="Calibri"/>
                <a:cs typeface="Calibri"/>
                <a:sym typeface="Calibri"/>
              </a:defRPr>
            </a:lvl2pPr>
            <a:lvl3pPr indent="0" lvl="2" marL="0" marR="0" algn="r">
              <a:buClr>
                <a:srgbClr val="000000"/>
              </a:buClr>
              <a:buSzPts val="900"/>
              <a:buFont typeface="Calibri"/>
              <a:buNone/>
              <a:defRPr sz="900">
                <a:solidFill>
                  <a:srgbClr val="233A44"/>
                </a:solidFill>
                <a:latin typeface="Calibri"/>
                <a:ea typeface="Calibri"/>
                <a:cs typeface="Calibri"/>
                <a:sym typeface="Calibri"/>
              </a:defRPr>
            </a:lvl3pPr>
            <a:lvl4pPr indent="0" lvl="3" marL="0" marR="0" algn="r">
              <a:buClr>
                <a:srgbClr val="000000"/>
              </a:buClr>
              <a:buSzPts val="900"/>
              <a:buFont typeface="Calibri"/>
              <a:buNone/>
              <a:defRPr sz="900">
                <a:solidFill>
                  <a:srgbClr val="233A44"/>
                </a:solidFill>
                <a:latin typeface="Calibri"/>
                <a:ea typeface="Calibri"/>
                <a:cs typeface="Calibri"/>
                <a:sym typeface="Calibri"/>
              </a:defRPr>
            </a:lvl4pPr>
            <a:lvl5pPr indent="0" lvl="4" marL="0" marR="0" algn="r">
              <a:buClr>
                <a:srgbClr val="000000"/>
              </a:buClr>
              <a:buSzPts val="900"/>
              <a:buFont typeface="Calibri"/>
              <a:buNone/>
              <a:defRPr sz="900">
                <a:solidFill>
                  <a:srgbClr val="233A44"/>
                </a:solidFill>
                <a:latin typeface="Calibri"/>
                <a:ea typeface="Calibri"/>
                <a:cs typeface="Calibri"/>
                <a:sym typeface="Calibri"/>
              </a:defRPr>
            </a:lvl5pPr>
            <a:lvl6pPr indent="0" lvl="5" marL="0" marR="0" algn="r">
              <a:buClr>
                <a:srgbClr val="000000"/>
              </a:buClr>
              <a:buSzPts val="900"/>
              <a:buFont typeface="Calibri"/>
              <a:buNone/>
              <a:defRPr sz="900">
                <a:solidFill>
                  <a:srgbClr val="233A44"/>
                </a:solidFill>
                <a:latin typeface="Calibri"/>
                <a:ea typeface="Calibri"/>
                <a:cs typeface="Calibri"/>
                <a:sym typeface="Calibri"/>
              </a:defRPr>
            </a:lvl6pPr>
            <a:lvl7pPr indent="0" lvl="6" marL="0" marR="0" algn="r">
              <a:buClr>
                <a:srgbClr val="000000"/>
              </a:buClr>
              <a:buSzPts val="900"/>
              <a:buFont typeface="Calibri"/>
              <a:buNone/>
              <a:defRPr sz="900">
                <a:solidFill>
                  <a:srgbClr val="233A44"/>
                </a:solidFill>
                <a:latin typeface="Calibri"/>
                <a:ea typeface="Calibri"/>
                <a:cs typeface="Calibri"/>
                <a:sym typeface="Calibri"/>
              </a:defRPr>
            </a:lvl7pPr>
            <a:lvl8pPr indent="0" lvl="7" marL="0" marR="0" algn="r">
              <a:buClr>
                <a:srgbClr val="000000"/>
              </a:buClr>
              <a:buSzPts val="900"/>
              <a:buFont typeface="Calibri"/>
              <a:buNone/>
              <a:defRPr sz="900">
                <a:solidFill>
                  <a:srgbClr val="233A44"/>
                </a:solidFill>
                <a:latin typeface="Calibri"/>
                <a:ea typeface="Calibri"/>
                <a:cs typeface="Calibri"/>
                <a:sym typeface="Calibri"/>
              </a:defRPr>
            </a:lvl8pPr>
            <a:lvl9pPr indent="0" lvl="8" marL="0" marR="0" algn="r">
              <a:buClr>
                <a:srgbClr val="000000"/>
              </a:buClr>
              <a:buSzPts val="900"/>
              <a:buFont typeface="Calibri"/>
              <a:buNone/>
              <a:defRPr sz="900">
                <a:solidFill>
                  <a:srgbClr val="233A44"/>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7"/>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75" name="Google Shape;75;p1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solidFill>
                  <a:srgbClr val="233A44"/>
                </a:solidFill>
              </a:defRPr>
            </a:lvl1pPr>
            <a:lvl2pPr indent="0" lvl="1" marL="0" algn="r">
              <a:spcBef>
                <a:spcPts val="0"/>
              </a:spcBef>
              <a:buNone/>
              <a:defRPr>
                <a:solidFill>
                  <a:srgbClr val="233A44"/>
                </a:solidFill>
              </a:defRPr>
            </a:lvl2pPr>
            <a:lvl3pPr indent="0" lvl="2" marL="0" algn="r">
              <a:spcBef>
                <a:spcPts val="0"/>
              </a:spcBef>
              <a:buNone/>
              <a:defRPr>
                <a:solidFill>
                  <a:srgbClr val="233A44"/>
                </a:solidFill>
              </a:defRPr>
            </a:lvl3pPr>
            <a:lvl4pPr indent="0" lvl="3" marL="0" algn="r">
              <a:spcBef>
                <a:spcPts val="0"/>
              </a:spcBef>
              <a:buNone/>
              <a:defRPr>
                <a:solidFill>
                  <a:srgbClr val="233A44"/>
                </a:solidFill>
              </a:defRPr>
            </a:lvl4pPr>
            <a:lvl5pPr indent="0" lvl="4" marL="0" algn="r">
              <a:spcBef>
                <a:spcPts val="0"/>
              </a:spcBef>
              <a:buNone/>
              <a:defRPr>
                <a:solidFill>
                  <a:srgbClr val="233A44"/>
                </a:solidFill>
              </a:defRPr>
            </a:lvl5pPr>
            <a:lvl6pPr indent="0" lvl="5" marL="0" algn="r">
              <a:spcBef>
                <a:spcPts val="0"/>
              </a:spcBef>
              <a:buNone/>
              <a:defRPr>
                <a:solidFill>
                  <a:srgbClr val="233A44"/>
                </a:solidFill>
              </a:defRPr>
            </a:lvl6pPr>
            <a:lvl7pPr indent="0" lvl="6" marL="0" algn="r">
              <a:spcBef>
                <a:spcPts val="0"/>
              </a:spcBef>
              <a:buNone/>
              <a:defRPr>
                <a:solidFill>
                  <a:srgbClr val="233A44"/>
                </a:solidFill>
              </a:defRPr>
            </a:lvl7pPr>
            <a:lvl8pPr indent="0" lvl="7" marL="0" algn="r">
              <a:spcBef>
                <a:spcPts val="0"/>
              </a:spcBef>
              <a:buNone/>
              <a:defRPr>
                <a:solidFill>
                  <a:srgbClr val="233A44"/>
                </a:solidFill>
              </a:defRPr>
            </a:lvl8pPr>
            <a:lvl9pPr indent="0" lvl="8" marL="0" algn="r">
              <a:spcBef>
                <a:spcPts val="0"/>
              </a:spcBef>
              <a:buNone/>
              <a:defRPr>
                <a:solidFill>
                  <a:srgbClr val="233A44"/>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8"/>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1" name="Google Shape;81;p18"/>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2" name="Google Shape;82;p1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solidFill>
                  <a:srgbClr val="233A44"/>
                </a:solidFill>
              </a:defRPr>
            </a:lvl1pPr>
            <a:lvl2pPr indent="0" lvl="1" marL="0" algn="r">
              <a:spcBef>
                <a:spcPts val="0"/>
              </a:spcBef>
              <a:buNone/>
              <a:defRPr>
                <a:solidFill>
                  <a:srgbClr val="233A44"/>
                </a:solidFill>
              </a:defRPr>
            </a:lvl2pPr>
            <a:lvl3pPr indent="0" lvl="2" marL="0" algn="r">
              <a:spcBef>
                <a:spcPts val="0"/>
              </a:spcBef>
              <a:buNone/>
              <a:defRPr>
                <a:solidFill>
                  <a:srgbClr val="233A44"/>
                </a:solidFill>
              </a:defRPr>
            </a:lvl3pPr>
            <a:lvl4pPr indent="0" lvl="3" marL="0" algn="r">
              <a:spcBef>
                <a:spcPts val="0"/>
              </a:spcBef>
              <a:buNone/>
              <a:defRPr>
                <a:solidFill>
                  <a:srgbClr val="233A44"/>
                </a:solidFill>
              </a:defRPr>
            </a:lvl4pPr>
            <a:lvl5pPr indent="0" lvl="4" marL="0" algn="r">
              <a:spcBef>
                <a:spcPts val="0"/>
              </a:spcBef>
              <a:buNone/>
              <a:defRPr>
                <a:solidFill>
                  <a:srgbClr val="233A44"/>
                </a:solidFill>
              </a:defRPr>
            </a:lvl5pPr>
            <a:lvl6pPr indent="0" lvl="5" marL="0" algn="r">
              <a:spcBef>
                <a:spcPts val="0"/>
              </a:spcBef>
              <a:buNone/>
              <a:defRPr>
                <a:solidFill>
                  <a:srgbClr val="233A44"/>
                </a:solidFill>
              </a:defRPr>
            </a:lvl6pPr>
            <a:lvl7pPr indent="0" lvl="6" marL="0" algn="r">
              <a:spcBef>
                <a:spcPts val="0"/>
              </a:spcBef>
              <a:buNone/>
              <a:defRPr>
                <a:solidFill>
                  <a:srgbClr val="233A44"/>
                </a:solidFill>
              </a:defRPr>
            </a:lvl7pPr>
            <a:lvl8pPr indent="0" lvl="7" marL="0" algn="r">
              <a:spcBef>
                <a:spcPts val="0"/>
              </a:spcBef>
              <a:buNone/>
              <a:defRPr>
                <a:solidFill>
                  <a:srgbClr val="233A44"/>
                </a:solidFill>
              </a:defRPr>
            </a:lvl8pPr>
            <a:lvl9pPr indent="0" lvl="8" marL="0" algn="r">
              <a:spcBef>
                <a:spcPts val="0"/>
              </a:spcBef>
              <a:buNone/>
              <a:defRPr>
                <a:solidFill>
                  <a:srgbClr val="233A44"/>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19"/>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8" name="Google Shape;88;p19"/>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9" name="Google Shape;89;p19"/>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0" name="Google Shape;90;p19"/>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1" name="Google Shape;91;p1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solidFill>
                  <a:srgbClr val="233A44"/>
                </a:solidFill>
              </a:defRPr>
            </a:lvl1pPr>
            <a:lvl2pPr indent="0" lvl="1" marL="0" algn="r">
              <a:spcBef>
                <a:spcPts val="0"/>
              </a:spcBef>
              <a:buNone/>
              <a:defRPr>
                <a:solidFill>
                  <a:srgbClr val="233A44"/>
                </a:solidFill>
              </a:defRPr>
            </a:lvl2pPr>
            <a:lvl3pPr indent="0" lvl="2" marL="0" algn="r">
              <a:spcBef>
                <a:spcPts val="0"/>
              </a:spcBef>
              <a:buNone/>
              <a:defRPr>
                <a:solidFill>
                  <a:srgbClr val="233A44"/>
                </a:solidFill>
              </a:defRPr>
            </a:lvl3pPr>
            <a:lvl4pPr indent="0" lvl="3" marL="0" algn="r">
              <a:spcBef>
                <a:spcPts val="0"/>
              </a:spcBef>
              <a:buNone/>
              <a:defRPr>
                <a:solidFill>
                  <a:srgbClr val="233A44"/>
                </a:solidFill>
              </a:defRPr>
            </a:lvl4pPr>
            <a:lvl5pPr indent="0" lvl="4" marL="0" algn="r">
              <a:spcBef>
                <a:spcPts val="0"/>
              </a:spcBef>
              <a:buNone/>
              <a:defRPr>
                <a:solidFill>
                  <a:srgbClr val="233A44"/>
                </a:solidFill>
              </a:defRPr>
            </a:lvl5pPr>
            <a:lvl6pPr indent="0" lvl="5" marL="0" algn="r">
              <a:spcBef>
                <a:spcPts val="0"/>
              </a:spcBef>
              <a:buNone/>
              <a:defRPr>
                <a:solidFill>
                  <a:srgbClr val="233A44"/>
                </a:solidFill>
              </a:defRPr>
            </a:lvl6pPr>
            <a:lvl7pPr indent="0" lvl="6" marL="0" algn="r">
              <a:spcBef>
                <a:spcPts val="0"/>
              </a:spcBef>
              <a:buNone/>
              <a:defRPr>
                <a:solidFill>
                  <a:srgbClr val="233A44"/>
                </a:solidFill>
              </a:defRPr>
            </a:lvl7pPr>
            <a:lvl8pPr indent="0" lvl="7" marL="0" algn="r">
              <a:spcBef>
                <a:spcPts val="0"/>
              </a:spcBef>
              <a:buNone/>
              <a:defRPr>
                <a:solidFill>
                  <a:srgbClr val="233A44"/>
                </a:solidFill>
              </a:defRPr>
            </a:lvl8pPr>
            <a:lvl9pPr indent="0" lvl="8" marL="0" algn="r">
              <a:spcBef>
                <a:spcPts val="0"/>
              </a:spcBef>
              <a:buNone/>
              <a:defRPr>
                <a:solidFill>
                  <a:srgbClr val="233A44"/>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2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solidFill>
                  <a:srgbClr val="233A44"/>
                </a:solidFill>
              </a:defRPr>
            </a:lvl1pPr>
            <a:lvl2pPr indent="0" lvl="1" marL="0" algn="r">
              <a:spcBef>
                <a:spcPts val="0"/>
              </a:spcBef>
              <a:buNone/>
              <a:defRPr>
                <a:solidFill>
                  <a:srgbClr val="233A44"/>
                </a:solidFill>
              </a:defRPr>
            </a:lvl2pPr>
            <a:lvl3pPr indent="0" lvl="2" marL="0" algn="r">
              <a:spcBef>
                <a:spcPts val="0"/>
              </a:spcBef>
              <a:buNone/>
              <a:defRPr>
                <a:solidFill>
                  <a:srgbClr val="233A44"/>
                </a:solidFill>
              </a:defRPr>
            </a:lvl3pPr>
            <a:lvl4pPr indent="0" lvl="3" marL="0" algn="r">
              <a:spcBef>
                <a:spcPts val="0"/>
              </a:spcBef>
              <a:buNone/>
              <a:defRPr>
                <a:solidFill>
                  <a:srgbClr val="233A44"/>
                </a:solidFill>
              </a:defRPr>
            </a:lvl4pPr>
            <a:lvl5pPr indent="0" lvl="4" marL="0" algn="r">
              <a:spcBef>
                <a:spcPts val="0"/>
              </a:spcBef>
              <a:buNone/>
              <a:defRPr>
                <a:solidFill>
                  <a:srgbClr val="233A44"/>
                </a:solidFill>
              </a:defRPr>
            </a:lvl5pPr>
            <a:lvl6pPr indent="0" lvl="5" marL="0" algn="r">
              <a:spcBef>
                <a:spcPts val="0"/>
              </a:spcBef>
              <a:buNone/>
              <a:defRPr>
                <a:solidFill>
                  <a:srgbClr val="233A44"/>
                </a:solidFill>
              </a:defRPr>
            </a:lvl6pPr>
            <a:lvl7pPr indent="0" lvl="6" marL="0" algn="r">
              <a:spcBef>
                <a:spcPts val="0"/>
              </a:spcBef>
              <a:buNone/>
              <a:defRPr>
                <a:solidFill>
                  <a:srgbClr val="233A44"/>
                </a:solidFill>
              </a:defRPr>
            </a:lvl7pPr>
            <a:lvl8pPr indent="0" lvl="7" marL="0" algn="r">
              <a:spcBef>
                <a:spcPts val="0"/>
              </a:spcBef>
              <a:buNone/>
              <a:defRPr>
                <a:solidFill>
                  <a:srgbClr val="233A44"/>
                </a:solidFill>
              </a:defRPr>
            </a:lvl8pPr>
            <a:lvl9pPr indent="0" lvl="8" marL="0" algn="r">
              <a:spcBef>
                <a:spcPts val="0"/>
              </a:spcBef>
              <a:buNone/>
              <a:defRPr>
                <a:solidFill>
                  <a:srgbClr val="233A44"/>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9" name="Shape 99"/>
        <p:cNvGrpSpPr/>
        <p:nvPr/>
      </p:nvGrpSpPr>
      <p:grpSpPr>
        <a:xfrm>
          <a:off x="0" y="0"/>
          <a:ext cx="0" cy="0"/>
          <a:chOff x="0" y="0"/>
          <a:chExt cx="0" cy="0"/>
        </a:xfrm>
      </p:grpSpPr>
      <p:sp>
        <p:nvSpPr>
          <p:cNvPr id="100" name="Google Shape;100;p2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1" name="Google Shape;101;p2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2" name="Google Shape;102;p2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solidFill>
                  <a:srgbClr val="233A44"/>
                </a:solidFill>
              </a:defRPr>
            </a:lvl1pPr>
            <a:lvl2pPr indent="0" lvl="1" marL="0" algn="r">
              <a:spcBef>
                <a:spcPts val="0"/>
              </a:spcBef>
              <a:buNone/>
              <a:defRPr>
                <a:solidFill>
                  <a:srgbClr val="233A44"/>
                </a:solidFill>
              </a:defRPr>
            </a:lvl2pPr>
            <a:lvl3pPr indent="0" lvl="2" marL="0" algn="r">
              <a:spcBef>
                <a:spcPts val="0"/>
              </a:spcBef>
              <a:buNone/>
              <a:defRPr>
                <a:solidFill>
                  <a:srgbClr val="233A44"/>
                </a:solidFill>
              </a:defRPr>
            </a:lvl3pPr>
            <a:lvl4pPr indent="0" lvl="3" marL="0" algn="r">
              <a:spcBef>
                <a:spcPts val="0"/>
              </a:spcBef>
              <a:buNone/>
              <a:defRPr>
                <a:solidFill>
                  <a:srgbClr val="233A44"/>
                </a:solidFill>
              </a:defRPr>
            </a:lvl4pPr>
            <a:lvl5pPr indent="0" lvl="4" marL="0" algn="r">
              <a:spcBef>
                <a:spcPts val="0"/>
              </a:spcBef>
              <a:buNone/>
              <a:defRPr>
                <a:solidFill>
                  <a:srgbClr val="233A44"/>
                </a:solidFill>
              </a:defRPr>
            </a:lvl5pPr>
            <a:lvl6pPr indent="0" lvl="5" marL="0" algn="r">
              <a:spcBef>
                <a:spcPts val="0"/>
              </a:spcBef>
              <a:buNone/>
              <a:defRPr>
                <a:solidFill>
                  <a:srgbClr val="233A44"/>
                </a:solidFill>
              </a:defRPr>
            </a:lvl6pPr>
            <a:lvl7pPr indent="0" lvl="6" marL="0" algn="r">
              <a:spcBef>
                <a:spcPts val="0"/>
              </a:spcBef>
              <a:buNone/>
              <a:defRPr>
                <a:solidFill>
                  <a:srgbClr val="233A44"/>
                </a:solidFill>
              </a:defRPr>
            </a:lvl7pPr>
            <a:lvl8pPr indent="0" lvl="7" marL="0" algn="r">
              <a:spcBef>
                <a:spcPts val="0"/>
              </a:spcBef>
              <a:buNone/>
              <a:defRPr>
                <a:solidFill>
                  <a:srgbClr val="233A44"/>
                </a:solidFill>
              </a:defRPr>
            </a:lvl8pPr>
            <a:lvl9pPr indent="0" lvl="8" marL="0" algn="r">
              <a:spcBef>
                <a:spcPts val="0"/>
              </a:spcBef>
              <a:buNone/>
              <a:defRPr>
                <a:solidFill>
                  <a:srgbClr val="233A44"/>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3" name="Shape 103"/>
        <p:cNvGrpSpPr/>
        <p:nvPr/>
      </p:nvGrpSpPr>
      <p:grpSpPr>
        <a:xfrm>
          <a:off x="0" y="0"/>
          <a:ext cx="0" cy="0"/>
          <a:chOff x="0" y="0"/>
          <a:chExt cx="0" cy="0"/>
        </a:xfrm>
      </p:grpSpPr>
      <p:sp>
        <p:nvSpPr>
          <p:cNvPr id="104" name="Google Shape;104;p22"/>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5" name="Google Shape;105;p22"/>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6" name="Google Shape;106;p22"/>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7" name="Google Shape;107;p2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8" name="Google Shape;108;p2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9" name="Google Shape;109;p2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solidFill>
                  <a:srgbClr val="233A44"/>
                </a:solidFill>
              </a:defRPr>
            </a:lvl1pPr>
            <a:lvl2pPr indent="0" lvl="1" marL="0" algn="r">
              <a:spcBef>
                <a:spcPts val="0"/>
              </a:spcBef>
              <a:buNone/>
              <a:defRPr>
                <a:solidFill>
                  <a:srgbClr val="233A44"/>
                </a:solidFill>
              </a:defRPr>
            </a:lvl2pPr>
            <a:lvl3pPr indent="0" lvl="2" marL="0" algn="r">
              <a:spcBef>
                <a:spcPts val="0"/>
              </a:spcBef>
              <a:buNone/>
              <a:defRPr>
                <a:solidFill>
                  <a:srgbClr val="233A44"/>
                </a:solidFill>
              </a:defRPr>
            </a:lvl3pPr>
            <a:lvl4pPr indent="0" lvl="3" marL="0" algn="r">
              <a:spcBef>
                <a:spcPts val="0"/>
              </a:spcBef>
              <a:buNone/>
              <a:defRPr>
                <a:solidFill>
                  <a:srgbClr val="233A44"/>
                </a:solidFill>
              </a:defRPr>
            </a:lvl4pPr>
            <a:lvl5pPr indent="0" lvl="4" marL="0" algn="r">
              <a:spcBef>
                <a:spcPts val="0"/>
              </a:spcBef>
              <a:buNone/>
              <a:defRPr>
                <a:solidFill>
                  <a:srgbClr val="233A44"/>
                </a:solidFill>
              </a:defRPr>
            </a:lvl5pPr>
            <a:lvl6pPr indent="0" lvl="5" marL="0" algn="r">
              <a:spcBef>
                <a:spcPts val="0"/>
              </a:spcBef>
              <a:buNone/>
              <a:defRPr>
                <a:solidFill>
                  <a:srgbClr val="233A44"/>
                </a:solidFill>
              </a:defRPr>
            </a:lvl6pPr>
            <a:lvl7pPr indent="0" lvl="6" marL="0" algn="r">
              <a:spcBef>
                <a:spcPts val="0"/>
              </a:spcBef>
              <a:buNone/>
              <a:defRPr>
                <a:solidFill>
                  <a:srgbClr val="233A44"/>
                </a:solidFill>
              </a:defRPr>
            </a:lvl7pPr>
            <a:lvl8pPr indent="0" lvl="7" marL="0" algn="r">
              <a:spcBef>
                <a:spcPts val="0"/>
              </a:spcBef>
              <a:buNone/>
              <a:defRPr>
                <a:solidFill>
                  <a:srgbClr val="233A44"/>
                </a:solidFill>
              </a:defRPr>
            </a:lvl8pPr>
            <a:lvl9pPr indent="0" lvl="8" marL="0" algn="r">
              <a:spcBef>
                <a:spcPts val="0"/>
              </a:spcBef>
              <a:buNone/>
              <a:defRPr>
                <a:solidFill>
                  <a:srgbClr val="233A44"/>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0" name="Shape 110"/>
        <p:cNvGrpSpPr/>
        <p:nvPr/>
      </p:nvGrpSpPr>
      <p:grpSpPr>
        <a:xfrm>
          <a:off x="0" y="0"/>
          <a:ext cx="0" cy="0"/>
          <a:chOff x="0" y="0"/>
          <a:chExt cx="0" cy="0"/>
        </a:xfrm>
      </p:grpSpPr>
      <p:sp>
        <p:nvSpPr>
          <p:cNvPr id="111" name="Google Shape;111;p23"/>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2" name="Google Shape;112;p23"/>
          <p:cNvSpPr/>
          <p:nvPr>
            <p:ph idx="2" type="pic"/>
          </p:nvPr>
        </p:nvSpPr>
        <p:spPr>
          <a:xfrm>
            <a:off x="3887391" y="740569"/>
            <a:ext cx="4629300" cy="3655200"/>
          </a:xfrm>
          <a:prstGeom prst="rect">
            <a:avLst/>
          </a:prstGeom>
          <a:noFill/>
          <a:ln>
            <a:noFill/>
          </a:ln>
        </p:spPr>
      </p:sp>
      <p:sp>
        <p:nvSpPr>
          <p:cNvPr id="113" name="Google Shape;113;p23"/>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4" name="Google Shape;114;p2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5" name="Google Shape;115;p2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6" name="Google Shape;116;p2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solidFill>
                  <a:srgbClr val="233A44"/>
                </a:solidFill>
              </a:defRPr>
            </a:lvl1pPr>
            <a:lvl2pPr indent="0" lvl="1" marL="0" algn="r">
              <a:spcBef>
                <a:spcPts val="0"/>
              </a:spcBef>
              <a:buNone/>
              <a:defRPr>
                <a:solidFill>
                  <a:srgbClr val="233A44"/>
                </a:solidFill>
              </a:defRPr>
            </a:lvl2pPr>
            <a:lvl3pPr indent="0" lvl="2" marL="0" algn="r">
              <a:spcBef>
                <a:spcPts val="0"/>
              </a:spcBef>
              <a:buNone/>
              <a:defRPr>
                <a:solidFill>
                  <a:srgbClr val="233A44"/>
                </a:solidFill>
              </a:defRPr>
            </a:lvl3pPr>
            <a:lvl4pPr indent="0" lvl="3" marL="0" algn="r">
              <a:spcBef>
                <a:spcPts val="0"/>
              </a:spcBef>
              <a:buNone/>
              <a:defRPr>
                <a:solidFill>
                  <a:srgbClr val="233A44"/>
                </a:solidFill>
              </a:defRPr>
            </a:lvl4pPr>
            <a:lvl5pPr indent="0" lvl="4" marL="0" algn="r">
              <a:spcBef>
                <a:spcPts val="0"/>
              </a:spcBef>
              <a:buNone/>
              <a:defRPr>
                <a:solidFill>
                  <a:srgbClr val="233A44"/>
                </a:solidFill>
              </a:defRPr>
            </a:lvl5pPr>
            <a:lvl6pPr indent="0" lvl="5" marL="0" algn="r">
              <a:spcBef>
                <a:spcPts val="0"/>
              </a:spcBef>
              <a:buNone/>
              <a:defRPr>
                <a:solidFill>
                  <a:srgbClr val="233A44"/>
                </a:solidFill>
              </a:defRPr>
            </a:lvl6pPr>
            <a:lvl7pPr indent="0" lvl="6" marL="0" algn="r">
              <a:spcBef>
                <a:spcPts val="0"/>
              </a:spcBef>
              <a:buNone/>
              <a:defRPr>
                <a:solidFill>
                  <a:srgbClr val="233A44"/>
                </a:solidFill>
              </a:defRPr>
            </a:lvl7pPr>
            <a:lvl8pPr indent="0" lvl="7" marL="0" algn="r">
              <a:spcBef>
                <a:spcPts val="0"/>
              </a:spcBef>
              <a:buNone/>
              <a:defRPr>
                <a:solidFill>
                  <a:srgbClr val="233A44"/>
                </a:solidFill>
              </a:defRPr>
            </a:lvl8pPr>
            <a:lvl9pPr indent="0" lvl="8" marL="0" algn="r">
              <a:spcBef>
                <a:spcPts val="0"/>
              </a:spcBef>
              <a:buNone/>
              <a:defRPr>
                <a:solidFill>
                  <a:srgbClr val="233A44"/>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7" name="Shape 117"/>
        <p:cNvGrpSpPr/>
        <p:nvPr/>
      </p:nvGrpSpPr>
      <p:grpSpPr>
        <a:xfrm>
          <a:off x="0" y="0"/>
          <a:ext cx="0" cy="0"/>
          <a:chOff x="0" y="0"/>
          <a:chExt cx="0" cy="0"/>
        </a:xfrm>
      </p:grpSpPr>
      <p:sp>
        <p:nvSpPr>
          <p:cNvPr id="118" name="Google Shape;118;p2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9" name="Google Shape;119;p24"/>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0" name="Google Shape;120;p2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1" name="Google Shape;121;p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2" name="Google Shape;122;p2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solidFill>
                  <a:srgbClr val="233A44"/>
                </a:solidFill>
              </a:defRPr>
            </a:lvl1pPr>
            <a:lvl2pPr indent="0" lvl="1" marL="0" algn="r">
              <a:spcBef>
                <a:spcPts val="0"/>
              </a:spcBef>
              <a:buNone/>
              <a:defRPr>
                <a:solidFill>
                  <a:srgbClr val="233A44"/>
                </a:solidFill>
              </a:defRPr>
            </a:lvl2pPr>
            <a:lvl3pPr indent="0" lvl="2" marL="0" algn="r">
              <a:spcBef>
                <a:spcPts val="0"/>
              </a:spcBef>
              <a:buNone/>
              <a:defRPr>
                <a:solidFill>
                  <a:srgbClr val="233A44"/>
                </a:solidFill>
              </a:defRPr>
            </a:lvl3pPr>
            <a:lvl4pPr indent="0" lvl="3" marL="0" algn="r">
              <a:spcBef>
                <a:spcPts val="0"/>
              </a:spcBef>
              <a:buNone/>
              <a:defRPr>
                <a:solidFill>
                  <a:srgbClr val="233A44"/>
                </a:solidFill>
              </a:defRPr>
            </a:lvl4pPr>
            <a:lvl5pPr indent="0" lvl="4" marL="0" algn="r">
              <a:spcBef>
                <a:spcPts val="0"/>
              </a:spcBef>
              <a:buNone/>
              <a:defRPr>
                <a:solidFill>
                  <a:srgbClr val="233A44"/>
                </a:solidFill>
              </a:defRPr>
            </a:lvl5pPr>
            <a:lvl6pPr indent="0" lvl="5" marL="0" algn="r">
              <a:spcBef>
                <a:spcPts val="0"/>
              </a:spcBef>
              <a:buNone/>
              <a:defRPr>
                <a:solidFill>
                  <a:srgbClr val="233A44"/>
                </a:solidFill>
              </a:defRPr>
            </a:lvl6pPr>
            <a:lvl7pPr indent="0" lvl="6" marL="0" algn="r">
              <a:spcBef>
                <a:spcPts val="0"/>
              </a:spcBef>
              <a:buNone/>
              <a:defRPr>
                <a:solidFill>
                  <a:srgbClr val="233A44"/>
                </a:solidFill>
              </a:defRPr>
            </a:lvl7pPr>
            <a:lvl8pPr indent="0" lvl="7" marL="0" algn="r">
              <a:spcBef>
                <a:spcPts val="0"/>
              </a:spcBef>
              <a:buNone/>
              <a:defRPr>
                <a:solidFill>
                  <a:srgbClr val="233A44"/>
                </a:solidFill>
              </a:defRPr>
            </a:lvl8pPr>
            <a:lvl9pPr indent="0" lvl="8" marL="0" algn="r">
              <a:spcBef>
                <a:spcPts val="0"/>
              </a:spcBef>
              <a:buNone/>
              <a:defRPr>
                <a:solidFill>
                  <a:srgbClr val="233A44"/>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3" name="Shape 123"/>
        <p:cNvGrpSpPr/>
        <p:nvPr/>
      </p:nvGrpSpPr>
      <p:grpSpPr>
        <a:xfrm>
          <a:off x="0" y="0"/>
          <a:ext cx="0" cy="0"/>
          <a:chOff x="0" y="0"/>
          <a:chExt cx="0" cy="0"/>
        </a:xfrm>
      </p:grpSpPr>
      <p:sp>
        <p:nvSpPr>
          <p:cNvPr id="124" name="Google Shape;124;p25"/>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5" name="Google Shape;125;p25"/>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6" name="Google Shape;126;p2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7" name="Google Shape;127;p2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8" name="Google Shape;128;p2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solidFill>
                  <a:srgbClr val="233A44"/>
                </a:solidFill>
              </a:defRPr>
            </a:lvl1pPr>
            <a:lvl2pPr indent="0" lvl="1" marL="0" algn="r">
              <a:spcBef>
                <a:spcPts val="0"/>
              </a:spcBef>
              <a:buNone/>
              <a:defRPr>
                <a:solidFill>
                  <a:srgbClr val="233A44"/>
                </a:solidFill>
              </a:defRPr>
            </a:lvl2pPr>
            <a:lvl3pPr indent="0" lvl="2" marL="0" algn="r">
              <a:spcBef>
                <a:spcPts val="0"/>
              </a:spcBef>
              <a:buNone/>
              <a:defRPr>
                <a:solidFill>
                  <a:srgbClr val="233A44"/>
                </a:solidFill>
              </a:defRPr>
            </a:lvl3pPr>
            <a:lvl4pPr indent="0" lvl="3" marL="0" algn="r">
              <a:spcBef>
                <a:spcPts val="0"/>
              </a:spcBef>
              <a:buNone/>
              <a:defRPr>
                <a:solidFill>
                  <a:srgbClr val="233A44"/>
                </a:solidFill>
              </a:defRPr>
            </a:lvl4pPr>
            <a:lvl5pPr indent="0" lvl="4" marL="0" algn="r">
              <a:spcBef>
                <a:spcPts val="0"/>
              </a:spcBef>
              <a:buNone/>
              <a:defRPr>
                <a:solidFill>
                  <a:srgbClr val="233A44"/>
                </a:solidFill>
              </a:defRPr>
            </a:lvl5pPr>
            <a:lvl6pPr indent="0" lvl="5" marL="0" algn="r">
              <a:spcBef>
                <a:spcPts val="0"/>
              </a:spcBef>
              <a:buNone/>
              <a:defRPr>
                <a:solidFill>
                  <a:srgbClr val="233A44"/>
                </a:solidFill>
              </a:defRPr>
            </a:lvl6pPr>
            <a:lvl7pPr indent="0" lvl="6" marL="0" algn="r">
              <a:spcBef>
                <a:spcPts val="0"/>
              </a:spcBef>
              <a:buNone/>
              <a:defRPr>
                <a:solidFill>
                  <a:srgbClr val="233A44"/>
                </a:solidFill>
              </a:defRPr>
            </a:lvl7pPr>
            <a:lvl8pPr indent="0" lvl="7" marL="0" algn="r">
              <a:spcBef>
                <a:spcPts val="0"/>
              </a:spcBef>
              <a:buNone/>
              <a:defRPr>
                <a:solidFill>
                  <a:srgbClr val="233A44"/>
                </a:solidFill>
              </a:defRPr>
            </a:lvl8pPr>
            <a:lvl9pPr indent="0" lvl="8" marL="0" algn="r">
              <a:spcBef>
                <a:spcPts val="0"/>
              </a:spcBef>
              <a:buNone/>
              <a:defRPr>
                <a:solidFill>
                  <a:srgbClr val="233A44"/>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1.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buNone/>
              <a:defRPr b="0" i="0" sz="900" u="none" cap="none" strike="noStrike">
                <a:solidFill>
                  <a:srgbClr val="233A44"/>
                </a:solidFill>
                <a:latin typeface="Calibri"/>
                <a:ea typeface="Calibri"/>
                <a:cs typeface="Calibri"/>
                <a:sym typeface="Calibri"/>
              </a:defRPr>
            </a:lvl1pPr>
            <a:lvl2pPr indent="0" lvl="1" marL="0" marR="0" algn="r">
              <a:spcBef>
                <a:spcPts val="0"/>
              </a:spcBef>
              <a:buNone/>
              <a:defRPr b="0" i="0" sz="900" u="none" cap="none" strike="noStrike">
                <a:solidFill>
                  <a:srgbClr val="233A44"/>
                </a:solidFill>
                <a:latin typeface="Calibri"/>
                <a:ea typeface="Calibri"/>
                <a:cs typeface="Calibri"/>
                <a:sym typeface="Calibri"/>
              </a:defRPr>
            </a:lvl2pPr>
            <a:lvl3pPr indent="0" lvl="2" marL="0" marR="0" algn="r">
              <a:spcBef>
                <a:spcPts val="0"/>
              </a:spcBef>
              <a:buNone/>
              <a:defRPr b="0" i="0" sz="900" u="none" cap="none" strike="noStrike">
                <a:solidFill>
                  <a:srgbClr val="233A44"/>
                </a:solidFill>
                <a:latin typeface="Calibri"/>
                <a:ea typeface="Calibri"/>
                <a:cs typeface="Calibri"/>
                <a:sym typeface="Calibri"/>
              </a:defRPr>
            </a:lvl3pPr>
            <a:lvl4pPr indent="0" lvl="3" marL="0" marR="0" algn="r">
              <a:spcBef>
                <a:spcPts val="0"/>
              </a:spcBef>
              <a:buNone/>
              <a:defRPr b="0" i="0" sz="900" u="none" cap="none" strike="noStrike">
                <a:solidFill>
                  <a:srgbClr val="233A44"/>
                </a:solidFill>
                <a:latin typeface="Calibri"/>
                <a:ea typeface="Calibri"/>
                <a:cs typeface="Calibri"/>
                <a:sym typeface="Calibri"/>
              </a:defRPr>
            </a:lvl4pPr>
            <a:lvl5pPr indent="0" lvl="4" marL="0" marR="0" algn="r">
              <a:spcBef>
                <a:spcPts val="0"/>
              </a:spcBef>
              <a:buNone/>
              <a:defRPr b="0" i="0" sz="900" u="none" cap="none" strike="noStrike">
                <a:solidFill>
                  <a:srgbClr val="233A44"/>
                </a:solidFill>
                <a:latin typeface="Calibri"/>
                <a:ea typeface="Calibri"/>
                <a:cs typeface="Calibri"/>
                <a:sym typeface="Calibri"/>
              </a:defRPr>
            </a:lvl5pPr>
            <a:lvl6pPr indent="0" lvl="5" marL="0" marR="0" algn="r">
              <a:spcBef>
                <a:spcPts val="0"/>
              </a:spcBef>
              <a:buNone/>
              <a:defRPr b="0" i="0" sz="900" u="none" cap="none" strike="noStrike">
                <a:solidFill>
                  <a:srgbClr val="233A44"/>
                </a:solidFill>
                <a:latin typeface="Calibri"/>
                <a:ea typeface="Calibri"/>
                <a:cs typeface="Calibri"/>
                <a:sym typeface="Calibri"/>
              </a:defRPr>
            </a:lvl6pPr>
            <a:lvl7pPr indent="0" lvl="6" marL="0" marR="0" algn="r">
              <a:spcBef>
                <a:spcPts val="0"/>
              </a:spcBef>
              <a:buNone/>
              <a:defRPr b="0" i="0" sz="900" u="none" cap="none" strike="noStrike">
                <a:solidFill>
                  <a:srgbClr val="233A44"/>
                </a:solidFill>
                <a:latin typeface="Calibri"/>
                <a:ea typeface="Calibri"/>
                <a:cs typeface="Calibri"/>
                <a:sym typeface="Calibri"/>
              </a:defRPr>
            </a:lvl7pPr>
            <a:lvl8pPr indent="0" lvl="7" marL="0" marR="0" algn="r">
              <a:spcBef>
                <a:spcPts val="0"/>
              </a:spcBef>
              <a:buNone/>
              <a:defRPr b="0" i="0" sz="900" u="none" cap="none" strike="noStrike">
                <a:solidFill>
                  <a:srgbClr val="233A44"/>
                </a:solidFill>
                <a:latin typeface="Calibri"/>
                <a:ea typeface="Calibri"/>
                <a:cs typeface="Calibri"/>
                <a:sym typeface="Calibri"/>
              </a:defRPr>
            </a:lvl8pPr>
            <a:lvl9pPr indent="0" lvl="8" marL="0" marR="0" algn="r">
              <a:spcBef>
                <a:spcPts val="0"/>
              </a:spcBef>
              <a:buNone/>
              <a:defRPr b="0" i="0" sz="900" u="none" cap="none" strike="noStrike">
                <a:solidFill>
                  <a:srgbClr val="233A44"/>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hyperlink" Target="https://arxiv.org/search/cs?searchtype=author&amp;query=Kotb,+M" TargetMode="External"/><Relationship Id="rId4" Type="http://schemas.openxmlformats.org/officeDocument/2006/relationships/hyperlink" Target="https://arxiv.org/search/cs?searchtype=author&amp;query=Meier,+J" TargetMode="External"/><Relationship Id="rId5" Type="http://schemas.openxmlformats.org/officeDocument/2006/relationships/hyperlink" Target="https://arxiv.org/search/cs?searchtype=author&amp;query=Reich,+C" TargetMode="External"/><Relationship Id="rId6" Type="http://schemas.openxmlformats.org/officeDocument/2006/relationships/hyperlink" Target="https://arxiv.org/search/cs?searchtype=author&amp;query=Dhaouadi,+O" TargetMode="External"/><Relationship Id="rId7" Type="http://schemas.openxmlformats.org/officeDocument/2006/relationships/hyperlink" Target="https://arxiv.org/search/cs?searchtype=author&amp;query=Denninger,+L" TargetMode="External"/><Relationship Id="rId8" Type="http://schemas.openxmlformats.org/officeDocument/2006/relationships/hyperlink" Target="https://arxiv.org/search/cs?searchtype=author&amp;query=Cremers,+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6"/>
          <p:cNvSpPr txBox="1"/>
          <p:nvPr>
            <p:ph type="ctrTitle"/>
          </p:nvPr>
        </p:nvSpPr>
        <p:spPr>
          <a:xfrm>
            <a:off x="851400" y="530725"/>
            <a:ext cx="7441200" cy="16155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Times New Roman"/>
              <a:buNone/>
            </a:pPr>
            <a:r>
              <a:rPr b="1" lang="en" sz="1600">
                <a:latin typeface="Times New Roman"/>
                <a:ea typeface="Times New Roman"/>
                <a:cs typeface="Times New Roman"/>
                <a:sym typeface="Times New Roman"/>
              </a:rPr>
              <a:t>Three Dimensional Object Detection Under Adverse Weather Using Second Model</a:t>
            </a:r>
            <a:endParaRPr b="1" sz="1600">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1100"/>
              <a:buFont typeface="Times New Roman"/>
              <a:buNone/>
            </a:pPr>
            <a:r>
              <a:rPr b="1" lang="en" sz="1500">
                <a:solidFill>
                  <a:schemeClr val="lt2"/>
                </a:solidFill>
                <a:latin typeface="Calibri"/>
                <a:ea typeface="Calibri"/>
                <a:cs typeface="Calibri"/>
                <a:sym typeface="Calibri"/>
              </a:rPr>
              <a:t> </a:t>
            </a:r>
            <a:br>
              <a:rPr b="1" lang="en" sz="1500">
                <a:solidFill>
                  <a:schemeClr val="lt2"/>
                </a:solidFill>
                <a:latin typeface="Calibri"/>
                <a:ea typeface="Calibri"/>
                <a:cs typeface="Calibri"/>
                <a:sym typeface="Calibri"/>
              </a:rPr>
            </a:br>
            <a:r>
              <a:rPr lang="en" sz="1500">
                <a:latin typeface="Calibri"/>
                <a:ea typeface="Calibri"/>
                <a:cs typeface="Calibri"/>
                <a:sym typeface="Calibri"/>
              </a:rPr>
              <a:t>MTP progress presentation </a:t>
            </a:r>
            <a:br>
              <a:rPr lang="en" sz="1500">
                <a:latin typeface="Calibri"/>
                <a:ea typeface="Calibri"/>
                <a:cs typeface="Calibri"/>
                <a:sym typeface="Calibri"/>
              </a:rPr>
            </a:br>
            <a:br>
              <a:rPr lang="en" sz="1500">
                <a:latin typeface="Calibri"/>
                <a:ea typeface="Calibri"/>
                <a:cs typeface="Calibri"/>
                <a:sym typeface="Calibri"/>
              </a:rPr>
            </a:br>
            <a:r>
              <a:rPr lang="en" sz="1500">
                <a:latin typeface="Calibri"/>
                <a:ea typeface="Calibri"/>
                <a:cs typeface="Calibri"/>
                <a:sym typeface="Calibri"/>
              </a:rPr>
              <a:t>by</a:t>
            </a:r>
            <a:br>
              <a:rPr lang="en" sz="1500">
                <a:latin typeface="Calibri"/>
                <a:ea typeface="Calibri"/>
                <a:cs typeface="Calibri"/>
                <a:sym typeface="Calibri"/>
              </a:rPr>
            </a:br>
            <a:br>
              <a:rPr lang="en" sz="1500">
                <a:latin typeface="Calibri"/>
                <a:ea typeface="Calibri"/>
                <a:cs typeface="Calibri"/>
                <a:sym typeface="Calibri"/>
              </a:rPr>
            </a:br>
            <a:r>
              <a:rPr b="1" lang="en" sz="1500"/>
              <a:t>Yash Agrawal</a:t>
            </a:r>
            <a:br>
              <a:rPr lang="en" sz="1500">
                <a:latin typeface="Calibri"/>
                <a:ea typeface="Calibri"/>
                <a:cs typeface="Calibri"/>
                <a:sym typeface="Calibri"/>
              </a:rPr>
            </a:br>
            <a:br>
              <a:rPr lang="en" sz="1500">
                <a:latin typeface="Calibri"/>
                <a:ea typeface="Calibri"/>
                <a:cs typeface="Calibri"/>
                <a:sym typeface="Calibri"/>
              </a:rPr>
            </a:br>
            <a:r>
              <a:rPr lang="en" sz="1500">
                <a:latin typeface="Calibri"/>
                <a:ea typeface="Calibri"/>
                <a:cs typeface="Calibri"/>
                <a:sym typeface="Calibri"/>
              </a:rPr>
              <a:t>Under the Supervision of </a:t>
            </a:r>
            <a:endParaRPr sz="1500">
              <a:latin typeface="Calibri"/>
              <a:ea typeface="Calibri"/>
              <a:cs typeface="Calibri"/>
              <a:sym typeface="Calibri"/>
            </a:endParaRPr>
          </a:p>
          <a:p>
            <a:pPr indent="0" lvl="0" marL="0" rtl="0" algn="ctr">
              <a:lnSpc>
                <a:spcPct val="90000"/>
              </a:lnSpc>
              <a:spcBef>
                <a:spcPts val="0"/>
              </a:spcBef>
              <a:spcAft>
                <a:spcPts val="0"/>
              </a:spcAft>
              <a:buClr>
                <a:schemeClr val="dk1"/>
              </a:buClr>
              <a:buSzPts val="1100"/>
              <a:buFont typeface="Times New Roman"/>
              <a:buNone/>
            </a:pPr>
            <a:br>
              <a:rPr lang="en" sz="1500">
                <a:latin typeface="Calibri"/>
                <a:ea typeface="Calibri"/>
                <a:cs typeface="Calibri"/>
                <a:sym typeface="Calibri"/>
              </a:rPr>
            </a:br>
            <a:r>
              <a:rPr b="1" lang="en" sz="1500"/>
              <a:t>Prof. Manisha Pattanaik</a:t>
            </a:r>
            <a:r>
              <a:rPr lang="en" sz="1500"/>
              <a:t> </a:t>
            </a:r>
            <a:r>
              <a:rPr lang="en" sz="1500">
                <a:latin typeface="Calibri"/>
                <a:ea typeface="Calibri"/>
                <a:cs typeface="Calibri"/>
                <a:sym typeface="Calibri"/>
              </a:rPr>
              <a:t> and  </a:t>
            </a:r>
            <a:r>
              <a:rPr b="1" lang="en" sz="1500"/>
              <a:t>Dr. Gaurav Sharma</a:t>
            </a:r>
            <a:br>
              <a:rPr lang="en" sz="1500">
                <a:latin typeface="Calibri"/>
                <a:ea typeface="Calibri"/>
                <a:cs typeface="Calibri"/>
                <a:sym typeface="Calibri"/>
              </a:rPr>
            </a:br>
            <a:endParaRPr sz="1500">
              <a:latin typeface="Calibri"/>
              <a:ea typeface="Calibri"/>
              <a:cs typeface="Calibri"/>
              <a:sym typeface="Calibri"/>
            </a:endParaRPr>
          </a:p>
        </p:txBody>
      </p:sp>
      <p:pic>
        <p:nvPicPr>
          <p:cNvPr id="134" name="Google Shape;134;p26"/>
          <p:cNvPicPr preferRelativeResize="0"/>
          <p:nvPr/>
        </p:nvPicPr>
        <p:blipFill rotWithShape="1">
          <a:blip r:embed="rId3">
            <a:alphaModFix/>
          </a:blip>
          <a:srcRect b="0" l="0" r="0" t="0"/>
          <a:stretch/>
        </p:blipFill>
        <p:spPr>
          <a:xfrm>
            <a:off x="3755396" y="2694427"/>
            <a:ext cx="1633213" cy="1279411"/>
          </a:xfrm>
          <a:prstGeom prst="rect">
            <a:avLst/>
          </a:prstGeom>
          <a:noFill/>
          <a:ln>
            <a:noFill/>
          </a:ln>
        </p:spPr>
      </p:pic>
      <p:sp>
        <p:nvSpPr>
          <p:cNvPr id="135" name="Google Shape;135;p26"/>
          <p:cNvSpPr/>
          <p:nvPr/>
        </p:nvSpPr>
        <p:spPr>
          <a:xfrm>
            <a:off x="0" y="4181725"/>
            <a:ext cx="9144000" cy="5769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0" i="0" lang="en" sz="1500" u="none" cap="none" strike="noStrike">
                <a:solidFill>
                  <a:schemeClr val="dk1"/>
                </a:solidFill>
                <a:latin typeface="Calibri"/>
                <a:ea typeface="Calibri"/>
                <a:cs typeface="Calibri"/>
                <a:sym typeface="Calibri"/>
              </a:rPr>
              <a:t>ATAL BIHARI VAJPAYEE-</a:t>
            </a:r>
            <a:endParaRPr b="0" i="0" sz="1500" u="none" cap="none" strike="noStrike">
              <a:solidFill>
                <a:schemeClr val="dk1"/>
              </a:solidFill>
              <a:latin typeface="Calibri"/>
              <a:ea typeface="Calibri"/>
              <a:cs typeface="Calibri"/>
              <a:sym typeface="Calibri"/>
            </a:endParaRPr>
          </a:p>
          <a:p>
            <a:pPr indent="0" lvl="0" marL="0" marR="0" rtl="0" algn="ctr">
              <a:lnSpc>
                <a:spcPct val="115000"/>
              </a:lnSpc>
              <a:spcBef>
                <a:spcPts val="0"/>
              </a:spcBef>
              <a:spcAft>
                <a:spcPts val="0"/>
              </a:spcAft>
              <a:buNone/>
            </a:pPr>
            <a:r>
              <a:rPr b="0" i="0" lang="en" sz="1500" u="none" cap="none" strike="noStrike">
                <a:solidFill>
                  <a:schemeClr val="dk1"/>
                </a:solidFill>
                <a:latin typeface="Calibri"/>
                <a:ea typeface="Calibri"/>
                <a:cs typeface="Calibri"/>
                <a:sym typeface="Calibri"/>
              </a:rPr>
              <a:t>INDIAN INSTITUTE OF INFORMATION TECHNOLOGY AND MANAGEMENT GWALIOR - 474015, MADHYA PRADESH, INDIA</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3300"/>
              <a:buFont typeface="Calibri"/>
              <a:buNone/>
            </a:pPr>
            <a:r>
              <a:t/>
            </a:r>
            <a:endParaRPr sz="1600"/>
          </a:p>
          <a:p>
            <a:pPr indent="0" lvl="0" marL="0" rtl="0" algn="l">
              <a:lnSpc>
                <a:spcPct val="90000"/>
              </a:lnSpc>
              <a:spcBef>
                <a:spcPts val="0"/>
              </a:spcBef>
              <a:spcAft>
                <a:spcPts val="0"/>
              </a:spcAft>
              <a:buClr>
                <a:schemeClr val="dk1"/>
              </a:buClr>
              <a:buSzPts val="3300"/>
              <a:buFont typeface="Calibri"/>
              <a:buNone/>
            </a:pPr>
            <a:r>
              <a:rPr lang="en" sz="100"/>
              <a:t>.</a:t>
            </a:r>
            <a:endParaRPr sz="100"/>
          </a:p>
        </p:txBody>
      </p:sp>
      <p:sp>
        <p:nvSpPr>
          <p:cNvPr id="141" name="Google Shape;141;p2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None/>
            </a:pPr>
            <a:r>
              <a:rPr lang="en" sz="100"/>
              <a:t>.</a:t>
            </a:r>
            <a:endParaRPr sz="100"/>
          </a:p>
        </p:txBody>
      </p:sp>
      <p:graphicFrame>
        <p:nvGraphicFramePr>
          <p:cNvPr id="142" name="Google Shape;142;p27"/>
          <p:cNvGraphicFramePr/>
          <p:nvPr/>
        </p:nvGraphicFramePr>
        <p:xfrm>
          <a:off x="1114500" y="333050"/>
          <a:ext cx="3000000" cy="3000000"/>
        </p:xfrm>
        <a:graphic>
          <a:graphicData uri="http://schemas.openxmlformats.org/drawingml/2006/table">
            <a:tbl>
              <a:tblPr>
                <a:noFill/>
                <a:tableStyleId>{6B7CBA92-FB18-46EC-AC29-052EAB320D3A}</a:tableStyleId>
              </a:tblPr>
              <a:tblGrid>
                <a:gridCol w="7089950"/>
              </a:tblGrid>
              <a:tr h="779450">
                <a:tc>
                  <a:txBody>
                    <a:bodyPr/>
                    <a:lstStyle/>
                    <a:p>
                      <a:pPr indent="0" lvl="0" marL="0" rtl="0" algn="ctr">
                        <a:spcBef>
                          <a:spcPts val="0"/>
                        </a:spcBef>
                        <a:spcAft>
                          <a:spcPts val="0"/>
                        </a:spcAft>
                        <a:buNone/>
                      </a:pPr>
                      <a:r>
                        <a:rPr b="1" lang="en" sz="2600"/>
                        <a:t>Outline</a:t>
                      </a:r>
                      <a:endParaRPr b="1" sz="2600"/>
                    </a:p>
                  </a:txBody>
                  <a:tcPr marT="91425" marB="91425" marR="91425" marL="91425"/>
                </a:tc>
              </a:tr>
              <a:tr h="633825">
                <a:tc>
                  <a:txBody>
                    <a:bodyPr/>
                    <a:lstStyle/>
                    <a:p>
                      <a:pPr indent="-171450" lvl="0" marL="177800" rtl="0" algn="l">
                        <a:lnSpc>
                          <a:spcPct val="90000"/>
                        </a:lnSpc>
                        <a:spcBef>
                          <a:spcPts val="0"/>
                        </a:spcBef>
                        <a:spcAft>
                          <a:spcPts val="0"/>
                        </a:spcAft>
                        <a:buClr>
                          <a:schemeClr val="dk1"/>
                        </a:buClr>
                        <a:buSzPts val="2100"/>
                        <a:buChar char="•"/>
                      </a:pPr>
                      <a:r>
                        <a:rPr lang="en" sz="2100">
                          <a:solidFill>
                            <a:schemeClr val="dk1"/>
                          </a:solidFill>
                          <a:latin typeface="Calibri"/>
                          <a:ea typeface="Calibri"/>
                          <a:cs typeface="Calibri"/>
                          <a:sym typeface="Calibri"/>
                        </a:rPr>
                        <a:t>Introduction</a:t>
                      </a:r>
                      <a:endParaRPr/>
                    </a:p>
                  </a:txBody>
                  <a:tcPr marT="91425" marB="91425" marR="91425" marL="91425"/>
                </a:tc>
              </a:tr>
              <a:tr h="633825">
                <a:tc>
                  <a:txBody>
                    <a:bodyPr/>
                    <a:lstStyle/>
                    <a:p>
                      <a:pPr indent="-171450" lvl="0" marL="177800" rtl="0" algn="l">
                        <a:lnSpc>
                          <a:spcPct val="90000"/>
                        </a:lnSpc>
                        <a:spcBef>
                          <a:spcPts val="800"/>
                        </a:spcBef>
                        <a:spcAft>
                          <a:spcPts val="0"/>
                        </a:spcAft>
                        <a:buClr>
                          <a:schemeClr val="dk1"/>
                        </a:buClr>
                        <a:buSzPts val="2100"/>
                        <a:buChar char="•"/>
                      </a:pPr>
                      <a:r>
                        <a:rPr lang="en" sz="2100">
                          <a:solidFill>
                            <a:schemeClr val="dk1"/>
                          </a:solidFill>
                          <a:latin typeface="Calibri"/>
                          <a:ea typeface="Calibri"/>
                          <a:cs typeface="Calibri"/>
                          <a:sym typeface="Calibri"/>
                        </a:rPr>
                        <a:t>Literature Review</a:t>
                      </a:r>
                      <a:endParaRPr/>
                    </a:p>
                  </a:txBody>
                  <a:tcPr marT="91425" marB="91425" marR="91425" marL="91425"/>
                </a:tc>
              </a:tr>
              <a:tr h="633825">
                <a:tc>
                  <a:txBody>
                    <a:bodyPr/>
                    <a:lstStyle/>
                    <a:p>
                      <a:pPr indent="-171450" lvl="0" marL="177800" rtl="0" algn="l">
                        <a:lnSpc>
                          <a:spcPct val="90000"/>
                        </a:lnSpc>
                        <a:spcBef>
                          <a:spcPts val="800"/>
                        </a:spcBef>
                        <a:spcAft>
                          <a:spcPts val="0"/>
                        </a:spcAft>
                        <a:buClr>
                          <a:schemeClr val="dk1"/>
                        </a:buClr>
                        <a:buSzPts val="2100"/>
                        <a:buChar char="•"/>
                      </a:pPr>
                      <a:r>
                        <a:rPr lang="en" sz="2100">
                          <a:solidFill>
                            <a:schemeClr val="dk1"/>
                          </a:solidFill>
                          <a:latin typeface="Calibri"/>
                          <a:ea typeface="Calibri"/>
                          <a:cs typeface="Calibri"/>
                          <a:sym typeface="Calibri"/>
                        </a:rPr>
                        <a:t>Research Gap</a:t>
                      </a:r>
                      <a:endParaRPr/>
                    </a:p>
                  </a:txBody>
                  <a:tcPr marT="91425" marB="91425" marR="91425" marL="91425"/>
                </a:tc>
              </a:tr>
              <a:tr h="633825">
                <a:tc>
                  <a:txBody>
                    <a:bodyPr/>
                    <a:lstStyle/>
                    <a:p>
                      <a:pPr indent="-171450" lvl="0" marL="177800" rtl="0" algn="l">
                        <a:lnSpc>
                          <a:spcPct val="90000"/>
                        </a:lnSpc>
                        <a:spcBef>
                          <a:spcPts val="800"/>
                        </a:spcBef>
                        <a:spcAft>
                          <a:spcPts val="0"/>
                        </a:spcAft>
                        <a:buClr>
                          <a:schemeClr val="dk1"/>
                        </a:buClr>
                        <a:buSzPts val="2100"/>
                        <a:buChar char="•"/>
                      </a:pPr>
                      <a:r>
                        <a:rPr lang="en" sz="2100">
                          <a:solidFill>
                            <a:schemeClr val="dk1"/>
                          </a:solidFill>
                          <a:latin typeface="Calibri"/>
                          <a:ea typeface="Calibri"/>
                          <a:cs typeface="Calibri"/>
                          <a:sym typeface="Calibri"/>
                        </a:rPr>
                        <a:t>Objectives</a:t>
                      </a:r>
                      <a:endParaRPr/>
                    </a:p>
                  </a:txBody>
                  <a:tcPr marT="91425" marB="91425" marR="91425" marL="91425"/>
                </a:tc>
              </a:tr>
              <a:tr h="633825">
                <a:tc>
                  <a:txBody>
                    <a:bodyPr/>
                    <a:lstStyle/>
                    <a:p>
                      <a:pPr indent="-171450" lvl="0" marL="177800" rtl="0" algn="l">
                        <a:lnSpc>
                          <a:spcPct val="90000"/>
                        </a:lnSpc>
                        <a:spcBef>
                          <a:spcPts val="800"/>
                        </a:spcBef>
                        <a:spcAft>
                          <a:spcPts val="0"/>
                        </a:spcAft>
                        <a:buClr>
                          <a:schemeClr val="dk1"/>
                        </a:buClr>
                        <a:buSzPts val="2100"/>
                        <a:buChar char="•"/>
                      </a:pPr>
                      <a:r>
                        <a:rPr lang="en" sz="2100">
                          <a:solidFill>
                            <a:schemeClr val="dk1"/>
                          </a:solidFill>
                          <a:latin typeface="Calibri"/>
                          <a:ea typeface="Calibri"/>
                          <a:cs typeface="Calibri"/>
                          <a:sym typeface="Calibri"/>
                        </a:rPr>
                        <a:t>Methodology</a:t>
                      </a:r>
                      <a:endParaRPr/>
                    </a:p>
                  </a:txBody>
                  <a:tcPr marT="91425" marB="91425" marR="91425" marL="91425"/>
                </a:tc>
              </a:tr>
              <a:tr h="633825">
                <a:tc>
                  <a:txBody>
                    <a:bodyPr/>
                    <a:lstStyle/>
                    <a:p>
                      <a:pPr indent="-171450" lvl="0" marL="177800" rtl="0" algn="l">
                        <a:lnSpc>
                          <a:spcPct val="90000"/>
                        </a:lnSpc>
                        <a:spcBef>
                          <a:spcPts val="800"/>
                        </a:spcBef>
                        <a:spcAft>
                          <a:spcPts val="0"/>
                        </a:spcAft>
                        <a:buClr>
                          <a:schemeClr val="dk1"/>
                        </a:buClr>
                        <a:buSzPts val="2100"/>
                        <a:buChar char="•"/>
                      </a:pPr>
                      <a:r>
                        <a:rPr lang="en" sz="2100">
                          <a:solidFill>
                            <a:schemeClr val="dk1"/>
                          </a:solidFill>
                          <a:latin typeface="Calibri"/>
                          <a:ea typeface="Calibri"/>
                          <a:cs typeface="Calibri"/>
                          <a:sym typeface="Calibri"/>
                        </a:rPr>
                        <a:t>Results</a:t>
                      </a:r>
                      <a:endParaRPr/>
                    </a:p>
                  </a:txBody>
                  <a:tcPr marT="91425" marB="91425" marR="91425" marL="91425"/>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000"/>
              <a:buFont typeface="Calibri"/>
              <a:buNone/>
            </a:pPr>
            <a:r>
              <a:rPr lang="en" sz="3000"/>
              <a:t>Introduction</a:t>
            </a:r>
            <a:endParaRPr/>
          </a:p>
        </p:txBody>
      </p:sp>
      <p:sp>
        <p:nvSpPr>
          <p:cNvPr id="148" name="Google Shape;148;p28"/>
          <p:cNvSpPr/>
          <p:nvPr/>
        </p:nvSpPr>
        <p:spPr>
          <a:xfrm>
            <a:off x="0" y="4688625"/>
            <a:ext cx="9144000" cy="454800"/>
          </a:xfrm>
          <a:prstGeom prst="rect">
            <a:avLst/>
          </a:prstGeom>
          <a:noFill/>
          <a:ln>
            <a:noFill/>
          </a:ln>
        </p:spPr>
        <p:txBody>
          <a:bodyPr anchorCtr="0" anchor="t" bIns="34275" lIns="68575" spcFirstLastPara="1" rIns="68575" wrap="square" tIns="34275">
            <a:noAutofit/>
          </a:bodyPr>
          <a:lstStyle/>
          <a:p>
            <a:pPr indent="0" lvl="0" marL="0" marR="0" rtl="0" algn="just">
              <a:spcBef>
                <a:spcPts val="0"/>
              </a:spcBef>
              <a:spcAft>
                <a:spcPts val="0"/>
              </a:spcAft>
              <a:buNone/>
            </a:pPr>
            <a:r>
              <a:rPr b="1" i="0" lang="en" sz="1400" u="none" cap="none" strike="noStrike">
                <a:solidFill>
                  <a:schemeClr val="dk1"/>
                </a:solidFill>
                <a:latin typeface="Calibri"/>
                <a:ea typeface="Calibri"/>
                <a:cs typeface="Calibri"/>
                <a:sym typeface="Calibri"/>
              </a:rPr>
              <a:t>Fig 1. </a:t>
            </a:r>
            <a:r>
              <a:rPr lang="en">
                <a:solidFill>
                  <a:schemeClr val="dk1"/>
                </a:solidFill>
                <a:latin typeface="Calibri"/>
                <a:ea typeface="Calibri"/>
                <a:cs typeface="Calibri"/>
                <a:sym typeface="Calibri"/>
              </a:rPr>
              <a:t>Joint Probability Distribution function of Received Intensities of LiDAR Beam as a function of size of Fog and Aerosol corresponding to Attenuation and Backscattering (Q_ext, Q_b)</a:t>
            </a:r>
            <a:endParaRPr sz="1100"/>
          </a:p>
        </p:txBody>
      </p:sp>
      <p:pic>
        <p:nvPicPr>
          <p:cNvPr id="149" name="Google Shape;149;p28"/>
          <p:cNvPicPr preferRelativeResize="0"/>
          <p:nvPr/>
        </p:nvPicPr>
        <p:blipFill rotWithShape="1">
          <a:blip r:embed="rId3">
            <a:alphaModFix/>
          </a:blip>
          <a:srcRect b="0" l="0" r="735" t="0"/>
          <a:stretch/>
        </p:blipFill>
        <p:spPr>
          <a:xfrm>
            <a:off x="152400" y="152400"/>
            <a:ext cx="7886699" cy="4459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graphicFrame>
        <p:nvGraphicFramePr>
          <p:cNvPr id="154" name="Google Shape;154;p29"/>
          <p:cNvGraphicFramePr/>
          <p:nvPr/>
        </p:nvGraphicFramePr>
        <p:xfrm>
          <a:off x="3" y="591298"/>
          <a:ext cx="3000000" cy="3000000"/>
        </p:xfrm>
        <a:graphic>
          <a:graphicData uri="http://schemas.openxmlformats.org/drawingml/2006/table">
            <a:tbl>
              <a:tblPr>
                <a:noFill/>
                <a:tableStyleId>{DC95D008-48EC-41BC-B549-CE9E3AA9ABCF}</a:tableStyleId>
              </a:tblPr>
              <a:tblGrid>
                <a:gridCol w="769975"/>
                <a:gridCol w="2561050"/>
                <a:gridCol w="1945425"/>
                <a:gridCol w="2038750"/>
                <a:gridCol w="1828800"/>
              </a:tblGrid>
              <a:tr h="419250">
                <a:tc>
                  <a:txBody>
                    <a:bodyPr/>
                    <a:lstStyle/>
                    <a:p>
                      <a:pPr indent="0" lvl="0" marL="0" marR="0" rtl="0" algn="ctr">
                        <a:spcBef>
                          <a:spcPts val="0"/>
                        </a:spcBef>
                        <a:spcAft>
                          <a:spcPts val="0"/>
                        </a:spcAft>
                        <a:buNone/>
                      </a:pPr>
                      <a:r>
                        <a:rPr b="1" lang="en" sz="1100" u="none" cap="none" strike="noStrike">
                          <a:solidFill>
                            <a:srgbClr val="1F1F1F"/>
                          </a:solidFill>
                          <a:latin typeface="Times New Roman"/>
                          <a:ea typeface="Times New Roman"/>
                          <a:cs typeface="Times New Roman"/>
                          <a:sym typeface="Times New Roman"/>
                        </a:rPr>
                        <a:t>    Sr. No. </a:t>
                      </a:r>
                      <a:endParaRPr sz="1100" u="none" cap="none" strike="noStrike">
                        <a:solidFill>
                          <a:srgbClr val="1F1F1F"/>
                        </a:solidFill>
                        <a:latin typeface="Times New Roman"/>
                        <a:ea typeface="Times New Roman"/>
                        <a:cs typeface="Times New Roman"/>
                        <a:sym typeface="Times New Roman"/>
                      </a:endParaRPr>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 sz="1100" u="none" cap="none" strike="noStrike">
                          <a:solidFill>
                            <a:srgbClr val="1F1F1F"/>
                          </a:solidFill>
                          <a:latin typeface="Times New Roman"/>
                          <a:ea typeface="Times New Roman"/>
                          <a:cs typeface="Times New Roman"/>
                          <a:sym typeface="Times New Roman"/>
                        </a:rPr>
                        <a:t>    Paper Title</a:t>
                      </a:r>
                      <a:endParaRPr sz="1100" u="none" cap="none" strike="noStrike">
                        <a:solidFill>
                          <a:srgbClr val="1F1F1F"/>
                        </a:solidFill>
                        <a:latin typeface="Times New Roman"/>
                        <a:ea typeface="Times New Roman"/>
                        <a:cs typeface="Times New Roman"/>
                        <a:sym typeface="Times New Roman"/>
                      </a:endParaRPr>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 sz="1100" u="none" cap="none" strike="noStrike">
                          <a:solidFill>
                            <a:srgbClr val="1F1F1F"/>
                          </a:solidFill>
                          <a:latin typeface="Times New Roman"/>
                          <a:ea typeface="Times New Roman"/>
                          <a:cs typeface="Times New Roman"/>
                          <a:sym typeface="Times New Roman"/>
                        </a:rPr>
                        <a:t>  Publication &amp; Authors</a:t>
                      </a:r>
                      <a:endParaRPr sz="1100" u="none" cap="none" strike="noStrike">
                        <a:solidFill>
                          <a:srgbClr val="1F1F1F"/>
                        </a:solidFill>
                        <a:latin typeface="Times New Roman"/>
                        <a:ea typeface="Times New Roman"/>
                        <a:cs typeface="Times New Roman"/>
                        <a:sym typeface="Times New Roman"/>
                      </a:endParaRPr>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 sz="1100" u="none" cap="none" strike="noStrike">
                          <a:solidFill>
                            <a:srgbClr val="1F1F1F"/>
                          </a:solidFill>
                          <a:latin typeface="Times New Roman"/>
                          <a:ea typeface="Times New Roman"/>
                          <a:cs typeface="Times New Roman"/>
                          <a:sym typeface="Times New Roman"/>
                        </a:rPr>
                        <a:t>Methodology / Key Contribution</a:t>
                      </a:r>
                      <a:endParaRPr sz="1100" u="none" cap="none" strike="noStrike">
                        <a:solidFill>
                          <a:srgbClr val="1F1F1F"/>
                        </a:solidFill>
                        <a:latin typeface="Times New Roman"/>
                        <a:ea typeface="Times New Roman"/>
                        <a:cs typeface="Times New Roman"/>
                        <a:sym typeface="Times New Roman"/>
                      </a:endParaRPr>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 sz="1100" u="none" cap="none" strike="noStrike">
                          <a:solidFill>
                            <a:srgbClr val="1F1F1F"/>
                          </a:solidFill>
                          <a:latin typeface="Times New Roman"/>
                          <a:ea typeface="Times New Roman"/>
                          <a:cs typeface="Times New Roman"/>
                          <a:sym typeface="Times New Roman"/>
                        </a:rPr>
                        <a:t>Future Scope / Research Challenges</a:t>
                      </a:r>
                      <a:endParaRPr sz="1100" u="none" cap="none" strike="noStrike">
                        <a:solidFill>
                          <a:srgbClr val="1F1F1F"/>
                        </a:solidFill>
                        <a:latin typeface="Times New Roman"/>
                        <a:ea typeface="Times New Roman"/>
                        <a:cs typeface="Times New Roman"/>
                        <a:sym typeface="Times New Roman"/>
                      </a:endParaRPr>
                    </a:p>
                  </a:txBody>
                  <a:tcPr marT="20325" marB="20325" marR="1220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317750">
                <a:tc>
                  <a:txBody>
                    <a:bodyPr/>
                    <a:lstStyle/>
                    <a:p>
                      <a:pPr indent="0" lvl="0" marL="0" marR="0" rtl="0" algn="ctr">
                        <a:spcBef>
                          <a:spcPts val="0"/>
                        </a:spcBef>
                        <a:spcAft>
                          <a:spcPts val="0"/>
                        </a:spcAft>
                        <a:buNone/>
                      </a:pPr>
                      <a:r>
                        <a:rPr lang="en" sz="1100" u="none" cap="none" strike="noStrike">
                          <a:latin typeface="Times New Roman"/>
                          <a:ea typeface="Times New Roman"/>
                          <a:cs typeface="Times New Roman"/>
                          <a:sym typeface="Times New Roman"/>
                        </a:rPr>
                        <a:t>1</a:t>
                      </a:r>
                      <a:endParaRPr sz="1100"/>
                    </a:p>
                  </a:txBody>
                  <a:tcPr marT="21475" marB="21475" marR="42950" marL="429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 sz="1100">
                          <a:solidFill>
                            <a:schemeClr val="dk1"/>
                          </a:solidFill>
                          <a:latin typeface="Times New Roman"/>
                          <a:ea typeface="Times New Roman"/>
                          <a:cs typeface="Times New Roman"/>
                          <a:sym typeface="Times New Roman"/>
                        </a:rPr>
                        <a:t>Fog simulation on real lidar point clouds for 3d object detection in adverse weather</a:t>
                      </a:r>
                      <a:endParaRPr sz="1100"/>
                    </a:p>
                  </a:txBody>
                  <a:tcPr marT="21475" marB="21475" marR="42950" marL="429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en" sz="1100">
                          <a:solidFill>
                            <a:schemeClr val="dk1"/>
                          </a:solidFill>
                          <a:latin typeface="Times New Roman"/>
                          <a:ea typeface="Times New Roman"/>
                          <a:cs typeface="Times New Roman"/>
                          <a:sym typeface="Times New Roman"/>
                        </a:rPr>
                        <a:t>M. Hahner</a:t>
                      </a:r>
                      <a:endParaRPr b="1" sz="11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1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1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 sz="1100">
                          <a:solidFill>
                            <a:schemeClr val="dk1"/>
                          </a:solidFill>
                          <a:latin typeface="Times New Roman"/>
                          <a:ea typeface="Times New Roman"/>
                          <a:cs typeface="Times New Roman"/>
                          <a:sym typeface="Times New Roman"/>
                        </a:rPr>
                        <a:t>IEEE Transactions on Intelligent Transportation Systems, 2023</a:t>
                      </a:r>
                      <a:r>
                        <a:rPr lang="en" sz="1100">
                          <a:latin typeface="Times New Roman"/>
                          <a:ea typeface="Times New Roman"/>
                          <a:cs typeface="Times New Roman"/>
                          <a:sym typeface="Times New Roman"/>
                        </a:rPr>
                        <a:t> [1]</a:t>
                      </a:r>
                      <a:endParaRPr sz="1100"/>
                    </a:p>
                  </a:txBody>
                  <a:tcPr marT="21475" marB="21475" marR="42950" marL="429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 sz="1100">
                          <a:latin typeface="Times New Roman"/>
                          <a:ea typeface="Times New Roman"/>
                          <a:cs typeface="Times New Roman"/>
                          <a:sym typeface="Times New Roman"/>
                        </a:rPr>
                        <a:t>.Second Model On OpenPCDet Dataset, State of The Art Presentation</a:t>
                      </a:r>
                      <a:endParaRPr sz="1100"/>
                    </a:p>
                  </a:txBody>
                  <a:tcPr marT="21475" marB="21475" marR="42950" marL="429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 sz="1100">
                          <a:latin typeface="Times New Roman"/>
                          <a:ea typeface="Times New Roman"/>
                          <a:cs typeface="Times New Roman"/>
                          <a:sym typeface="Times New Roman"/>
                        </a:rPr>
                        <a:t>Extension For Rain and Aerosol conditions</a:t>
                      </a:r>
                      <a:endParaRPr sz="1100">
                        <a:latin typeface="Times New Roman"/>
                        <a:ea typeface="Times New Roman"/>
                        <a:cs typeface="Times New Roman"/>
                        <a:sym typeface="Times New Roman"/>
                      </a:endParaRPr>
                    </a:p>
                  </a:txBody>
                  <a:tcPr marT="21475" marB="21475" marR="42950" marL="429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497450">
                <a:tc>
                  <a:txBody>
                    <a:bodyPr/>
                    <a:lstStyle/>
                    <a:p>
                      <a:pPr indent="0" lvl="0" marL="0" marR="0" rtl="0" algn="ctr">
                        <a:spcBef>
                          <a:spcPts val="0"/>
                        </a:spcBef>
                        <a:spcAft>
                          <a:spcPts val="0"/>
                        </a:spcAft>
                        <a:buNone/>
                      </a:pPr>
                      <a:r>
                        <a:rPr lang="en" sz="1100">
                          <a:latin typeface="Times New Roman"/>
                          <a:ea typeface="Times New Roman"/>
                          <a:cs typeface="Times New Roman"/>
                          <a:sym typeface="Times New Roman"/>
                        </a:rPr>
                        <a:t>2</a:t>
                      </a:r>
                      <a:endParaRPr sz="1100"/>
                    </a:p>
                  </a:txBody>
                  <a:tcPr marT="21475" marB="21475" marR="42950" marL="429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chemeClr val="dk1"/>
                          </a:solidFill>
                          <a:latin typeface="Times New Roman"/>
                          <a:ea typeface="Times New Roman"/>
                          <a:cs typeface="Times New Roman"/>
                          <a:sym typeface="Times New Roman"/>
                        </a:rPr>
                        <a:t>Parallel lidars meet the foggy weather: A multi-sensor approach for robust perception</a:t>
                      </a:r>
                      <a:endParaRPr sz="1100">
                        <a:latin typeface="Times New Roman"/>
                        <a:ea typeface="Times New Roman"/>
                        <a:cs typeface="Times New Roman"/>
                        <a:sym typeface="Times New Roman"/>
                      </a:endParaRPr>
                    </a:p>
                  </a:txBody>
                  <a:tcPr marT="21475" marB="21475" marR="42950" marL="429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 sz="1100">
                          <a:solidFill>
                            <a:schemeClr val="dk1"/>
                          </a:solidFill>
                          <a:latin typeface="Times New Roman"/>
                          <a:ea typeface="Times New Roman"/>
                          <a:cs typeface="Times New Roman"/>
                          <a:sym typeface="Times New Roman"/>
                        </a:rPr>
                        <a:t>IEEE Robotics and Automation Letters, 2024</a:t>
                      </a:r>
                      <a:r>
                        <a:rPr lang="en" sz="1100">
                          <a:latin typeface="Times New Roman"/>
                          <a:ea typeface="Times New Roman"/>
                          <a:cs typeface="Times New Roman"/>
                          <a:sym typeface="Times New Roman"/>
                        </a:rPr>
                        <a:t>[2]</a:t>
                      </a:r>
                      <a:endParaRPr sz="1100"/>
                    </a:p>
                  </a:txBody>
                  <a:tcPr marT="21475" marB="21475" marR="42950" marL="429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 sz="1100">
                          <a:latin typeface="Times New Roman"/>
                          <a:ea typeface="Times New Roman"/>
                          <a:cs typeface="Times New Roman"/>
                          <a:sym typeface="Times New Roman"/>
                        </a:rPr>
                        <a:t>Benchmark, Mathematically Finetuned, giving more </a:t>
                      </a:r>
                      <a:r>
                        <a:rPr lang="en" sz="1100">
                          <a:latin typeface="Times New Roman"/>
                          <a:ea typeface="Times New Roman"/>
                          <a:cs typeface="Times New Roman"/>
                          <a:sym typeface="Times New Roman"/>
                        </a:rPr>
                        <a:t>close to real results</a:t>
                      </a:r>
                      <a:endParaRPr sz="1100">
                        <a:latin typeface="Times New Roman"/>
                        <a:ea typeface="Times New Roman"/>
                        <a:cs typeface="Times New Roman"/>
                        <a:sym typeface="Times New Roman"/>
                      </a:endParaRPr>
                    </a:p>
                  </a:txBody>
                  <a:tcPr marT="21475" marB="21475" marR="42950" marL="429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 sz="1100">
                          <a:latin typeface="Times New Roman"/>
                          <a:ea typeface="Times New Roman"/>
                          <a:cs typeface="Times New Roman"/>
                          <a:sym typeface="Times New Roman"/>
                        </a:rPr>
                        <a:t>Extension For Indian Environment, currently for Foreign Environments</a:t>
                      </a:r>
                      <a:endParaRPr sz="1100">
                        <a:latin typeface="Times New Roman"/>
                        <a:ea typeface="Times New Roman"/>
                        <a:cs typeface="Times New Roman"/>
                        <a:sym typeface="Times New Roman"/>
                      </a:endParaRPr>
                    </a:p>
                  </a:txBody>
                  <a:tcPr marT="21475" marB="21475" marR="42950" marL="429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317750">
                <a:tc>
                  <a:txBody>
                    <a:bodyPr/>
                    <a:lstStyle/>
                    <a:p>
                      <a:pPr indent="0" lvl="0" marL="0" marR="0" rtl="0" algn="ctr">
                        <a:spcBef>
                          <a:spcPts val="0"/>
                        </a:spcBef>
                        <a:spcAft>
                          <a:spcPts val="0"/>
                        </a:spcAft>
                        <a:buNone/>
                      </a:pPr>
                      <a:r>
                        <a:rPr lang="en" sz="1100">
                          <a:latin typeface="Times New Roman"/>
                          <a:ea typeface="Times New Roman"/>
                          <a:cs typeface="Times New Roman"/>
                          <a:sym typeface="Times New Roman"/>
                        </a:rPr>
                        <a:t>3</a:t>
                      </a:r>
                      <a:endParaRPr sz="1100"/>
                    </a:p>
                  </a:txBody>
                  <a:tcPr marT="21475" marB="21475" marR="42950" marL="429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chemeClr val="dk1"/>
                          </a:solidFill>
                          <a:latin typeface="Times New Roman"/>
                          <a:ea typeface="Times New Roman"/>
                          <a:cs typeface="Times New Roman"/>
                          <a:sym typeface="Times New Roman"/>
                        </a:rPr>
                        <a:t>Object detection in adverse weather using synthetic data augmentation</a:t>
                      </a:r>
                      <a:endParaRPr sz="1100">
                        <a:latin typeface="Times New Roman"/>
                        <a:ea typeface="Times New Roman"/>
                        <a:cs typeface="Times New Roman"/>
                        <a:sym typeface="Times New Roman"/>
                      </a:endParaRPr>
                    </a:p>
                  </a:txBody>
                  <a:tcPr marT="21475" marB="21475" marR="42950" marL="429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 sz="1100">
                          <a:solidFill>
                            <a:schemeClr val="dk1"/>
                          </a:solidFill>
                          <a:latin typeface="Times New Roman"/>
                          <a:ea typeface="Times New Roman"/>
                          <a:cs typeface="Times New Roman"/>
                          <a:sym typeface="Times New Roman"/>
                        </a:rPr>
                        <a:t>IEEE Transactions on Intelligent Transportation Systems, 2021[</a:t>
                      </a:r>
                      <a:r>
                        <a:rPr lang="en" sz="1100">
                          <a:latin typeface="Times New Roman"/>
                          <a:ea typeface="Times New Roman"/>
                          <a:cs typeface="Times New Roman"/>
                          <a:sym typeface="Times New Roman"/>
                        </a:rPr>
                        <a:t>3]</a:t>
                      </a:r>
                      <a:endParaRPr sz="1100"/>
                    </a:p>
                  </a:txBody>
                  <a:tcPr marT="21475" marB="21475" marR="42950" marL="429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 sz="1100">
                          <a:latin typeface="Times New Roman"/>
                          <a:ea typeface="Times New Roman"/>
                          <a:cs typeface="Times New Roman"/>
                          <a:sym typeface="Times New Roman"/>
                        </a:rPr>
                        <a:t>Fine Tuned YOLO versions and CNN-based structures, more robust to adverse weather conditions </a:t>
                      </a:r>
                      <a:endParaRPr sz="1100"/>
                    </a:p>
                  </a:txBody>
                  <a:tcPr marT="21475" marB="21475" marR="42950" marL="429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 sz="1100">
                          <a:latin typeface="Times New Roman"/>
                          <a:ea typeface="Times New Roman"/>
                          <a:cs typeface="Times New Roman"/>
                          <a:sym typeface="Times New Roman"/>
                        </a:rPr>
                        <a:t>Training of Model On Latest Datasets like NuScene, which provide real time data</a:t>
                      </a:r>
                      <a:endParaRPr sz="1100"/>
                    </a:p>
                  </a:txBody>
                  <a:tcPr marT="21475" marB="21475" marR="42950" marL="429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55" name="Google Shape;155;p29"/>
          <p:cNvSpPr/>
          <p:nvPr/>
        </p:nvSpPr>
        <p:spPr>
          <a:xfrm>
            <a:off x="3108753" y="11"/>
            <a:ext cx="2926500" cy="531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3000">
                <a:solidFill>
                  <a:schemeClr val="dk1"/>
                </a:solidFill>
                <a:latin typeface="Times New Roman"/>
                <a:ea typeface="Times New Roman"/>
                <a:cs typeface="Times New Roman"/>
                <a:sym typeface="Times New Roman"/>
              </a:rPr>
              <a:t>Literature Review</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graphicFrame>
        <p:nvGraphicFramePr>
          <p:cNvPr id="160" name="Google Shape;160;p30"/>
          <p:cNvGraphicFramePr/>
          <p:nvPr/>
        </p:nvGraphicFramePr>
        <p:xfrm>
          <a:off x="-23" y="594821"/>
          <a:ext cx="3000000" cy="3000000"/>
        </p:xfrm>
        <a:graphic>
          <a:graphicData uri="http://schemas.openxmlformats.org/drawingml/2006/table">
            <a:tbl>
              <a:tblPr>
                <a:noFill/>
                <a:tableStyleId>{DC95D008-48EC-41BC-B549-CE9E3AA9ABCF}</a:tableStyleId>
              </a:tblPr>
              <a:tblGrid>
                <a:gridCol w="619800"/>
                <a:gridCol w="1898625"/>
                <a:gridCol w="1435400"/>
                <a:gridCol w="2564275"/>
                <a:gridCol w="2625925"/>
              </a:tblGrid>
              <a:tr h="446400">
                <a:tc>
                  <a:txBody>
                    <a:bodyPr/>
                    <a:lstStyle/>
                    <a:p>
                      <a:pPr indent="0" lvl="0" marL="0" marR="0" rtl="0" algn="ctr">
                        <a:spcBef>
                          <a:spcPts val="0"/>
                        </a:spcBef>
                        <a:spcAft>
                          <a:spcPts val="0"/>
                        </a:spcAft>
                        <a:buNone/>
                      </a:pPr>
                      <a:r>
                        <a:rPr b="1" lang="en" sz="1100">
                          <a:solidFill>
                            <a:srgbClr val="1F1F1F"/>
                          </a:solidFill>
                          <a:latin typeface="Times New Roman"/>
                          <a:ea typeface="Times New Roman"/>
                          <a:cs typeface="Times New Roman"/>
                          <a:sym typeface="Times New Roman"/>
                        </a:rPr>
                        <a:t>    Sr. No. </a:t>
                      </a:r>
                      <a:endParaRPr sz="1100">
                        <a:solidFill>
                          <a:srgbClr val="1F1F1F"/>
                        </a:solidFill>
                        <a:latin typeface="Times New Roman"/>
                        <a:ea typeface="Times New Roman"/>
                        <a:cs typeface="Times New Roman"/>
                        <a:sym typeface="Times New Roman"/>
                      </a:endParaRPr>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 sz="1100">
                          <a:solidFill>
                            <a:srgbClr val="1F1F1F"/>
                          </a:solidFill>
                          <a:latin typeface="Times New Roman"/>
                          <a:ea typeface="Times New Roman"/>
                          <a:cs typeface="Times New Roman"/>
                          <a:sym typeface="Times New Roman"/>
                        </a:rPr>
                        <a:t>    Paper Title</a:t>
                      </a:r>
                      <a:endParaRPr sz="1100">
                        <a:solidFill>
                          <a:srgbClr val="1F1F1F"/>
                        </a:solidFill>
                        <a:latin typeface="Times New Roman"/>
                        <a:ea typeface="Times New Roman"/>
                        <a:cs typeface="Times New Roman"/>
                        <a:sym typeface="Times New Roman"/>
                      </a:endParaRPr>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 sz="1100">
                          <a:solidFill>
                            <a:srgbClr val="1F1F1F"/>
                          </a:solidFill>
                          <a:latin typeface="Times New Roman"/>
                          <a:ea typeface="Times New Roman"/>
                          <a:cs typeface="Times New Roman"/>
                          <a:sym typeface="Times New Roman"/>
                        </a:rPr>
                        <a:t>  Publication &amp; Authors</a:t>
                      </a:r>
                      <a:endParaRPr sz="1100">
                        <a:solidFill>
                          <a:srgbClr val="1F1F1F"/>
                        </a:solidFill>
                        <a:latin typeface="Times New Roman"/>
                        <a:ea typeface="Times New Roman"/>
                        <a:cs typeface="Times New Roman"/>
                        <a:sym typeface="Times New Roman"/>
                      </a:endParaRPr>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 sz="1100">
                          <a:solidFill>
                            <a:srgbClr val="1F1F1F"/>
                          </a:solidFill>
                          <a:latin typeface="Times New Roman"/>
                          <a:ea typeface="Times New Roman"/>
                          <a:cs typeface="Times New Roman"/>
                          <a:sym typeface="Times New Roman"/>
                        </a:rPr>
                        <a:t>Methodology / Key Contribution</a:t>
                      </a:r>
                      <a:endParaRPr sz="1100">
                        <a:solidFill>
                          <a:srgbClr val="1F1F1F"/>
                        </a:solidFill>
                        <a:latin typeface="Times New Roman"/>
                        <a:ea typeface="Times New Roman"/>
                        <a:cs typeface="Times New Roman"/>
                        <a:sym typeface="Times New Roman"/>
                      </a:endParaRPr>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 sz="1100">
                          <a:solidFill>
                            <a:srgbClr val="1F1F1F"/>
                          </a:solidFill>
                          <a:latin typeface="Times New Roman"/>
                          <a:ea typeface="Times New Roman"/>
                          <a:cs typeface="Times New Roman"/>
                          <a:sym typeface="Times New Roman"/>
                        </a:rPr>
                        <a:t>Future Scope / Research Challenges</a:t>
                      </a:r>
                      <a:endParaRPr sz="1100">
                        <a:solidFill>
                          <a:srgbClr val="1F1F1F"/>
                        </a:solidFill>
                        <a:latin typeface="Times New Roman"/>
                        <a:ea typeface="Times New Roman"/>
                        <a:cs typeface="Times New Roman"/>
                        <a:sym typeface="Times New Roman"/>
                      </a:endParaRPr>
                    </a:p>
                  </a:txBody>
                  <a:tcPr marT="20325" marB="20325" marR="1220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165275">
                <a:tc>
                  <a:txBody>
                    <a:bodyPr/>
                    <a:lstStyle/>
                    <a:p>
                      <a:pPr indent="0" lvl="0" marL="0" marR="0" rtl="0" algn="ctr">
                        <a:spcBef>
                          <a:spcPts val="0"/>
                        </a:spcBef>
                        <a:spcAft>
                          <a:spcPts val="0"/>
                        </a:spcAft>
                        <a:buNone/>
                      </a:pPr>
                      <a:r>
                        <a:rPr b="1" lang="en" sz="1100">
                          <a:solidFill>
                            <a:srgbClr val="1F1F1F"/>
                          </a:solidFill>
                          <a:latin typeface="Times New Roman"/>
                          <a:ea typeface="Times New Roman"/>
                          <a:cs typeface="Times New Roman"/>
                          <a:sym typeface="Times New Roman"/>
                        </a:rPr>
                        <a:t>4</a:t>
                      </a:r>
                      <a:endParaRPr sz="1100">
                        <a:solidFill>
                          <a:srgbClr val="1F1F1F"/>
                        </a:solidFill>
                        <a:latin typeface="Times New Roman"/>
                        <a:ea typeface="Times New Roman"/>
                        <a:cs typeface="Times New Roman"/>
                        <a:sym typeface="Times New Roman"/>
                      </a:endParaRPr>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1F1F1F"/>
                          </a:solidFill>
                          <a:latin typeface="Times New Roman"/>
                          <a:ea typeface="Times New Roman"/>
                          <a:cs typeface="Times New Roman"/>
                          <a:sym typeface="Times New Roman"/>
                        </a:rPr>
                        <a:t>Effect of Particle Size Distribution on LiDAR-Based 3D Object Detection Under Adverse Weather</a:t>
                      </a:r>
                      <a:endParaRPr sz="1300"/>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en" sz="1100">
                          <a:solidFill>
                            <a:srgbClr val="1F1F1F"/>
                          </a:solidFill>
                          <a:latin typeface="Times New Roman"/>
                          <a:ea typeface="Times New Roman"/>
                          <a:cs typeface="Times New Roman"/>
                          <a:sym typeface="Times New Roman"/>
                        </a:rPr>
                        <a:t>IEEE Trans. Intel. Veh. 2026 [4</a:t>
                      </a:r>
                      <a:r>
                        <a:rPr b="1" lang="en" sz="1100">
                          <a:solidFill>
                            <a:srgbClr val="1F1F1F"/>
                          </a:solidFill>
                          <a:latin typeface="Times New Roman"/>
                          <a:ea typeface="Times New Roman"/>
                          <a:cs typeface="Times New Roman"/>
                          <a:sym typeface="Times New Roman"/>
                        </a:rPr>
                        <a:t>]</a:t>
                      </a:r>
                      <a:endParaRPr sz="1100">
                        <a:solidFill>
                          <a:srgbClr val="1F1F1F"/>
                        </a:solidFill>
                        <a:latin typeface="Times New Roman"/>
                        <a:ea typeface="Times New Roman"/>
                        <a:cs typeface="Times New Roman"/>
                        <a:sym typeface="Times New Roman"/>
                      </a:endParaRPr>
                    </a:p>
                    <a:p>
                      <a:pPr indent="0" lvl="0" marL="0" marR="0" rtl="0" algn="l">
                        <a:spcBef>
                          <a:spcPts val="0"/>
                        </a:spcBef>
                        <a:spcAft>
                          <a:spcPts val="0"/>
                        </a:spcAft>
                        <a:buNone/>
                      </a:pPr>
                      <a:br>
                        <a:rPr lang="en" sz="1100">
                          <a:solidFill>
                            <a:srgbClr val="1F1F1F"/>
                          </a:solidFill>
                          <a:latin typeface="Times New Roman"/>
                          <a:ea typeface="Times New Roman"/>
                          <a:cs typeface="Times New Roman"/>
                          <a:sym typeface="Times New Roman"/>
                        </a:rPr>
                      </a:br>
                      <a:r>
                        <a:rPr lang="en" sz="1100">
                          <a:solidFill>
                            <a:srgbClr val="1F1F1F"/>
                          </a:solidFill>
                          <a:latin typeface="Times New Roman"/>
                          <a:ea typeface="Times New Roman"/>
                          <a:cs typeface="Times New Roman"/>
                          <a:sym typeface="Times New Roman"/>
                        </a:rPr>
                        <a:t>A. K. Tiwari, A. Shinde, G. Sharma, M. Pattanaik and S. N. Singh</a:t>
                      </a:r>
                      <a:endParaRPr sz="1300"/>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 sz="1100">
                          <a:solidFill>
                            <a:srgbClr val="1F1F1F"/>
                          </a:solidFill>
                          <a:latin typeface="Times New Roman"/>
                          <a:ea typeface="Times New Roman"/>
                          <a:cs typeface="Times New Roman"/>
                          <a:sym typeface="Times New Roman"/>
                        </a:rPr>
                        <a:t>Establishes the Practical framework for handling 3DoD in Real Time, focusing on worst use cases, giving it better finish</a:t>
                      </a:r>
                      <a:endParaRPr sz="1300"/>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 sz="1100">
                          <a:solidFill>
                            <a:srgbClr val="1F1F1F"/>
                          </a:solidFill>
                          <a:latin typeface="Times New Roman"/>
                          <a:ea typeface="Times New Roman"/>
                          <a:cs typeface="Times New Roman"/>
                          <a:sym typeface="Times New Roman"/>
                        </a:rPr>
                        <a:t>Extending </a:t>
                      </a:r>
                      <a:r>
                        <a:rPr lang="en" sz="1100">
                          <a:solidFill>
                            <a:srgbClr val="1F1F1F"/>
                          </a:solidFill>
                          <a:latin typeface="Times New Roman"/>
                          <a:ea typeface="Times New Roman"/>
                          <a:cs typeface="Times New Roman"/>
                          <a:sym typeface="Times New Roman"/>
                        </a:rPr>
                        <a:t> to ultra-Practical situations  and validating model on data of more adverse conditions</a:t>
                      </a:r>
                      <a:endParaRPr sz="1300"/>
                    </a:p>
                  </a:txBody>
                  <a:tcPr marT="20325" marB="20325" marR="1220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000050">
                <a:tc>
                  <a:txBody>
                    <a:bodyPr/>
                    <a:lstStyle/>
                    <a:p>
                      <a:pPr indent="0" lvl="0" marL="0" marR="0" rtl="0" algn="ctr">
                        <a:spcBef>
                          <a:spcPts val="0"/>
                        </a:spcBef>
                        <a:spcAft>
                          <a:spcPts val="0"/>
                        </a:spcAft>
                        <a:buNone/>
                      </a:pPr>
                      <a:r>
                        <a:rPr lang="en" sz="1100">
                          <a:solidFill>
                            <a:srgbClr val="1F1F1F"/>
                          </a:solidFill>
                          <a:latin typeface="Times New Roman"/>
                          <a:ea typeface="Times New Roman"/>
                          <a:cs typeface="Times New Roman"/>
                          <a:sym typeface="Times New Roman"/>
                        </a:rPr>
                        <a:t>5</a:t>
                      </a:r>
                      <a:endParaRPr sz="1100">
                        <a:solidFill>
                          <a:srgbClr val="1F1F1F"/>
                        </a:solidFill>
                        <a:latin typeface="Times New Roman"/>
                        <a:ea typeface="Times New Roman"/>
                        <a:cs typeface="Times New Roman"/>
                        <a:sym typeface="Times New Roman"/>
                      </a:endParaRPr>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1F1F1F"/>
                          </a:solidFill>
                          <a:latin typeface="Times New Roman"/>
                          <a:ea typeface="Times New Roman"/>
                          <a:cs typeface="Times New Roman"/>
                          <a:sym typeface="Times New Roman"/>
                        </a:rPr>
                        <a:t>Complex-YOLO: An Euler-Region-Proposal for Real-time 3D Object Detection on Point Clouds</a:t>
                      </a:r>
                      <a:endParaRPr sz="1100">
                        <a:solidFill>
                          <a:srgbClr val="1F1F1F"/>
                        </a:solidFill>
                        <a:latin typeface="Times New Roman"/>
                        <a:ea typeface="Times New Roman"/>
                        <a:cs typeface="Times New Roman"/>
                        <a:sym typeface="Times New Roman"/>
                      </a:endParaRPr>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1F1F1F"/>
                          </a:solidFill>
                          <a:latin typeface="Times New Roman"/>
                          <a:ea typeface="Times New Roman"/>
                          <a:cs typeface="Times New Roman"/>
                          <a:sym typeface="Times New Roman"/>
                        </a:rPr>
                        <a:t>arXiv preprint 2018 </a:t>
                      </a:r>
                      <a:endParaRPr b="1" sz="1100">
                        <a:solidFill>
                          <a:srgbClr val="1F1F1F"/>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rgbClr val="1F1F1F"/>
                        </a:solidFill>
                        <a:latin typeface="Times New Roman"/>
                        <a:ea typeface="Times New Roman"/>
                        <a:cs typeface="Times New Roman"/>
                        <a:sym typeface="Times New Roman"/>
                      </a:endParaRPr>
                    </a:p>
                    <a:p>
                      <a:pPr indent="0" lvl="0" marL="0" rtl="0" algn="l">
                        <a:spcBef>
                          <a:spcPts val="0"/>
                        </a:spcBef>
                        <a:spcAft>
                          <a:spcPts val="0"/>
                        </a:spcAft>
                        <a:buNone/>
                      </a:pPr>
                      <a:r>
                        <a:rPr lang="en" sz="1100">
                          <a:solidFill>
                            <a:srgbClr val="1F1F1F"/>
                          </a:solidFill>
                          <a:latin typeface="Times New Roman"/>
                          <a:ea typeface="Times New Roman"/>
                          <a:cs typeface="Times New Roman"/>
                          <a:sym typeface="Times New Roman"/>
                        </a:rPr>
                        <a:t>M. Simon, S. Milz, K. Amende, H. M. Gross </a:t>
                      </a:r>
                      <a:endParaRPr sz="1100">
                        <a:solidFill>
                          <a:srgbClr val="1F1F1F"/>
                        </a:solidFill>
                        <a:latin typeface="Times New Roman"/>
                        <a:ea typeface="Times New Roman"/>
                        <a:cs typeface="Times New Roman"/>
                        <a:sym typeface="Times New Roman"/>
                      </a:endParaRPr>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1F1F1F"/>
                          </a:solidFill>
                          <a:latin typeface="Times New Roman"/>
                          <a:ea typeface="Times New Roman"/>
                          <a:cs typeface="Times New Roman"/>
                          <a:sym typeface="Times New Roman"/>
                        </a:rPr>
                        <a:t>Introduces E-RPN, that uses complex numbers to estimate object velocity</a:t>
                      </a:r>
                      <a:endParaRPr sz="1600"/>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1F1F1F"/>
                          </a:solidFill>
                          <a:latin typeface="Times New Roman"/>
                          <a:ea typeface="Times New Roman"/>
                          <a:cs typeface="Times New Roman"/>
                          <a:sym typeface="Times New Roman"/>
                        </a:rPr>
                        <a:t>handling severe point cloud sparsity in adverse weather, and expanding detection to highly occluded multi-class objects. </a:t>
                      </a:r>
                      <a:endParaRPr sz="1600"/>
                    </a:p>
                  </a:txBody>
                  <a:tcPr marT="20325" marB="20325" marR="1220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018250">
                <a:tc>
                  <a:txBody>
                    <a:bodyPr/>
                    <a:lstStyle/>
                    <a:p>
                      <a:pPr indent="0" lvl="0" marL="0" marR="0" rtl="0" algn="ctr">
                        <a:spcBef>
                          <a:spcPts val="0"/>
                        </a:spcBef>
                        <a:spcAft>
                          <a:spcPts val="0"/>
                        </a:spcAft>
                        <a:buNone/>
                      </a:pPr>
                      <a:r>
                        <a:rPr lang="en" sz="1100">
                          <a:solidFill>
                            <a:srgbClr val="1F1F1F"/>
                          </a:solidFill>
                          <a:latin typeface="Times New Roman"/>
                          <a:ea typeface="Times New Roman"/>
                          <a:cs typeface="Times New Roman"/>
                          <a:sym typeface="Times New Roman"/>
                        </a:rPr>
                        <a:t>6</a:t>
                      </a:r>
                      <a:endParaRPr sz="1100">
                        <a:solidFill>
                          <a:srgbClr val="1F1F1F"/>
                        </a:solidFill>
                        <a:latin typeface="Times New Roman"/>
                        <a:ea typeface="Times New Roman"/>
                        <a:cs typeface="Times New Roman"/>
                        <a:sym typeface="Times New Roman"/>
                      </a:endParaRPr>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 sz="1100">
                          <a:solidFill>
                            <a:srgbClr val="1F1F1F"/>
                          </a:solidFill>
                          <a:latin typeface="Times New Roman"/>
                          <a:ea typeface="Times New Roman"/>
                          <a:cs typeface="Times New Roman"/>
                          <a:sym typeface="Times New Roman"/>
                        </a:rPr>
                        <a:t>Effect of Fog Particle Size Distribution on 3D Object Detection Under Adverse Weather Conditions </a:t>
                      </a:r>
                      <a:endParaRPr sz="1300"/>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1F1F1F"/>
                          </a:solidFill>
                          <a:latin typeface="Times New Roman"/>
                          <a:ea typeface="Times New Roman"/>
                          <a:cs typeface="Times New Roman"/>
                          <a:sym typeface="Times New Roman"/>
                        </a:rPr>
                        <a:t>arXiv preprint 2024 </a:t>
                      </a:r>
                      <a:endParaRPr b="1" sz="1100">
                        <a:solidFill>
                          <a:srgbClr val="1F1F1F"/>
                        </a:solidFill>
                        <a:latin typeface="Times New Roman"/>
                        <a:ea typeface="Times New Roman"/>
                        <a:cs typeface="Times New Roman"/>
                        <a:sym typeface="Times New Roman"/>
                      </a:endParaRPr>
                    </a:p>
                    <a:p>
                      <a:pPr indent="0" lvl="0" marL="0" rtl="0" algn="l">
                        <a:spcBef>
                          <a:spcPts val="0"/>
                        </a:spcBef>
                        <a:spcAft>
                          <a:spcPts val="0"/>
                        </a:spcAft>
                        <a:buNone/>
                      </a:pPr>
                      <a:r>
                        <a:t/>
                      </a:r>
                      <a:endParaRPr sz="1100">
                        <a:solidFill>
                          <a:srgbClr val="1F1F1F"/>
                        </a:solidFill>
                        <a:latin typeface="Times New Roman"/>
                        <a:ea typeface="Times New Roman"/>
                        <a:cs typeface="Times New Roman"/>
                        <a:sym typeface="Times New Roman"/>
                      </a:endParaRPr>
                    </a:p>
                    <a:p>
                      <a:pPr indent="0" lvl="0" marL="0" rtl="0" algn="l">
                        <a:spcBef>
                          <a:spcPts val="0"/>
                        </a:spcBef>
                        <a:spcAft>
                          <a:spcPts val="0"/>
                        </a:spcAft>
                        <a:buNone/>
                      </a:pPr>
                      <a:r>
                        <a:rPr lang="en" sz="1100">
                          <a:solidFill>
                            <a:srgbClr val="1F1F1F"/>
                          </a:solidFill>
                          <a:latin typeface="Times New Roman"/>
                          <a:ea typeface="Times New Roman"/>
                          <a:cs typeface="Times New Roman"/>
                          <a:sym typeface="Times New Roman"/>
                        </a:rPr>
                        <a:t>A. Shinde, G. Sharma, M. Pattanaik, S. N. Singh </a:t>
                      </a:r>
                      <a:endParaRPr sz="1600"/>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1F1F1F"/>
                          </a:solidFill>
                          <a:latin typeface="Times New Roman"/>
                          <a:ea typeface="Times New Roman"/>
                          <a:cs typeface="Times New Roman"/>
                          <a:sym typeface="Times New Roman"/>
                        </a:rPr>
                        <a:t>Formulates a physical scattering framework based on Mie scattering theory and fog particle size distributions to quantify LiDAR beam behavior</a:t>
                      </a:r>
                      <a:endParaRPr sz="1600"/>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1F1F1F"/>
                          </a:solidFill>
                          <a:latin typeface="Times New Roman"/>
                          <a:ea typeface="Times New Roman"/>
                          <a:cs typeface="Times New Roman"/>
                          <a:sym typeface="Times New Roman"/>
                        </a:rPr>
                        <a:t>Extending physical fog models to dynamic real-world driving scenes, integrating multi-modal sensor fusion (LiDAR-Radar-Camera) </a:t>
                      </a:r>
                      <a:endParaRPr sz="1600"/>
                    </a:p>
                  </a:txBody>
                  <a:tcPr marT="20325" marB="20325" marR="1220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918700">
                <a:tc>
                  <a:txBody>
                    <a:bodyPr/>
                    <a:lstStyle/>
                    <a:p>
                      <a:pPr indent="0" lvl="0" marL="0" marR="0" rtl="0" algn="ctr">
                        <a:spcBef>
                          <a:spcPts val="0"/>
                        </a:spcBef>
                        <a:spcAft>
                          <a:spcPts val="0"/>
                        </a:spcAft>
                        <a:buNone/>
                      </a:pPr>
                      <a:r>
                        <a:rPr lang="en" sz="1100">
                          <a:solidFill>
                            <a:srgbClr val="1F1F1F"/>
                          </a:solidFill>
                          <a:latin typeface="Times New Roman"/>
                          <a:ea typeface="Times New Roman"/>
                          <a:cs typeface="Times New Roman"/>
                          <a:sym typeface="Times New Roman"/>
                        </a:rPr>
                        <a:t>7</a:t>
                      </a:r>
                      <a:endParaRPr sz="1100">
                        <a:solidFill>
                          <a:srgbClr val="1F1F1F"/>
                        </a:solidFill>
                        <a:latin typeface="Times New Roman"/>
                        <a:ea typeface="Times New Roman"/>
                        <a:cs typeface="Times New Roman"/>
                        <a:sym typeface="Times New Roman"/>
                      </a:endParaRPr>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 sz="1100">
                          <a:solidFill>
                            <a:srgbClr val="1F1F1F"/>
                          </a:solidFill>
                          <a:latin typeface="Times New Roman"/>
                          <a:ea typeface="Times New Roman"/>
                          <a:cs typeface="Times New Roman"/>
                          <a:sym typeface="Times New Roman"/>
                        </a:rPr>
                        <a:t>SECOND: Sparsely Embedded Convolutional Detection </a:t>
                      </a:r>
                      <a:endParaRPr sz="1100">
                        <a:solidFill>
                          <a:srgbClr val="1F1F1F"/>
                        </a:solidFill>
                        <a:latin typeface="Times New Roman"/>
                        <a:ea typeface="Times New Roman"/>
                        <a:cs typeface="Times New Roman"/>
                        <a:sym typeface="Times New Roman"/>
                      </a:endParaRPr>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1F1F1F"/>
                          </a:solidFill>
                          <a:latin typeface="Times New Roman"/>
                          <a:ea typeface="Times New Roman"/>
                          <a:cs typeface="Times New Roman"/>
                          <a:sym typeface="Times New Roman"/>
                        </a:rPr>
                        <a:t>IEEE Trans. Sensors 2018 </a:t>
                      </a:r>
                      <a:endParaRPr b="1" sz="1100">
                        <a:solidFill>
                          <a:srgbClr val="1F1F1F"/>
                        </a:solidFill>
                        <a:latin typeface="Times New Roman"/>
                        <a:ea typeface="Times New Roman"/>
                        <a:cs typeface="Times New Roman"/>
                        <a:sym typeface="Times New Roman"/>
                      </a:endParaRPr>
                    </a:p>
                    <a:p>
                      <a:pPr indent="0" lvl="0" marL="0" rtl="0" algn="l">
                        <a:spcBef>
                          <a:spcPts val="0"/>
                        </a:spcBef>
                        <a:spcAft>
                          <a:spcPts val="0"/>
                        </a:spcAft>
                        <a:buNone/>
                      </a:pPr>
                      <a:r>
                        <a:t/>
                      </a:r>
                      <a:endParaRPr sz="1100">
                        <a:solidFill>
                          <a:srgbClr val="1F1F1F"/>
                        </a:solidFill>
                        <a:latin typeface="Times New Roman"/>
                        <a:ea typeface="Times New Roman"/>
                        <a:cs typeface="Times New Roman"/>
                        <a:sym typeface="Times New Roman"/>
                      </a:endParaRPr>
                    </a:p>
                    <a:p>
                      <a:pPr indent="0" lvl="0" marL="0" rtl="0" algn="l">
                        <a:spcBef>
                          <a:spcPts val="0"/>
                        </a:spcBef>
                        <a:spcAft>
                          <a:spcPts val="0"/>
                        </a:spcAft>
                        <a:buNone/>
                      </a:pPr>
                      <a:r>
                        <a:rPr lang="en" sz="1100">
                          <a:solidFill>
                            <a:srgbClr val="1F1F1F"/>
                          </a:solidFill>
                          <a:latin typeface="Times New Roman"/>
                          <a:ea typeface="Times New Roman"/>
                          <a:cs typeface="Times New Roman"/>
                          <a:sym typeface="Times New Roman"/>
                        </a:rPr>
                        <a:t> Y. Yan, Y. Mao, B. Li</a:t>
                      </a:r>
                      <a:r>
                        <a:rPr lang="en" sz="1600"/>
                        <a:t> </a:t>
                      </a:r>
                      <a:endParaRPr sz="1600"/>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1F1F1F"/>
                          </a:solidFill>
                          <a:latin typeface="Times New Roman"/>
                          <a:ea typeface="Times New Roman"/>
                          <a:cs typeface="Times New Roman"/>
                          <a:sym typeface="Times New Roman"/>
                        </a:rPr>
                        <a:t>Proposes 3D submanifold sparse convolutions (spconv) to eliminate redundant computation on empty space, coupled with direction sense</a:t>
                      </a:r>
                      <a:endParaRPr sz="1600"/>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1F1F1F"/>
                          </a:solidFill>
                          <a:latin typeface="Times New Roman"/>
                          <a:ea typeface="Times New Roman"/>
                          <a:cs typeface="Times New Roman"/>
                          <a:sym typeface="Times New Roman"/>
                        </a:rPr>
                        <a:t>Reducing voxel quantization precision loss, optimizing memory footprint for ultra-dense point clouds </a:t>
                      </a:r>
                      <a:endParaRPr sz="1600"/>
                    </a:p>
                  </a:txBody>
                  <a:tcPr marT="20325" marB="20325" marR="1220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61" name="Google Shape;161;p30"/>
          <p:cNvSpPr txBox="1"/>
          <p:nvPr/>
        </p:nvSpPr>
        <p:spPr>
          <a:xfrm>
            <a:off x="2985800" y="0"/>
            <a:ext cx="3000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chemeClr val="dk1"/>
                </a:solidFill>
                <a:latin typeface="Times New Roman"/>
                <a:ea typeface="Times New Roman"/>
                <a:cs typeface="Times New Roman"/>
                <a:sym typeface="Times New Roman"/>
              </a:rPr>
              <a:t>Literature Review</a:t>
            </a:r>
            <a:endParaRPr sz="11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1"/>
          <p:cNvSpPr txBox="1"/>
          <p:nvPr>
            <p:ph type="title"/>
          </p:nvPr>
        </p:nvSpPr>
        <p:spPr>
          <a:xfrm>
            <a:off x="819150" y="845600"/>
            <a:ext cx="7505700" cy="954600"/>
          </a:xfrm>
          <a:prstGeom prst="rect">
            <a:avLst/>
          </a:prstGeom>
        </p:spPr>
        <p:txBody>
          <a:bodyPr anchorCtr="0" anchor="t" bIns="68575" lIns="68575" spcFirstLastPara="1" rIns="68575" wrap="square" tIns="68575">
            <a:normAutofit/>
          </a:bodyPr>
          <a:lstStyle/>
          <a:p>
            <a:pPr indent="0" lvl="0" marL="0" rtl="0" algn="l">
              <a:spcBef>
                <a:spcPts val="0"/>
              </a:spcBef>
              <a:spcAft>
                <a:spcPts val="0"/>
              </a:spcAft>
              <a:buNone/>
            </a:pPr>
            <a:r>
              <a:rPr lang="en" sz="100"/>
              <a:t>.</a:t>
            </a:r>
            <a:endParaRPr sz="100"/>
          </a:p>
        </p:txBody>
      </p:sp>
      <p:sp>
        <p:nvSpPr>
          <p:cNvPr id="167" name="Google Shape;167;p31"/>
          <p:cNvSpPr txBox="1"/>
          <p:nvPr>
            <p:ph idx="1" type="body"/>
          </p:nvPr>
        </p:nvSpPr>
        <p:spPr>
          <a:xfrm>
            <a:off x="819150" y="1990725"/>
            <a:ext cx="7505700" cy="2448000"/>
          </a:xfrm>
          <a:prstGeom prst="rect">
            <a:avLst/>
          </a:prstGeom>
        </p:spPr>
        <p:txBody>
          <a:bodyPr anchorCtr="0" anchor="t" bIns="68575" lIns="68575" spcFirstLastPara="1" rIns="68575" wrap="square" tIns="68575">
            <a:normAutofit/>
          </a:bodyPr>
          <a:lstStyle/>
          <a:p>
            <a:pPr indent="0" lvl="0" marL="0" rtl="0" algn="l">
              <a:spcBef>
                <a:spcPts val="0"/>
              </a:spcBef>
              <a:spcAft>
                <a:spcPts val="0"/>
              </a:spcAft>
              <a:buNone/>
            </a:pPr>
            <a:r>
              <a:rPr lang="en" sz="100"/>
              <a:t>.</a:t>
            </a:r>
            <a:endParaRPr sz="100"/>
          </a:p>
        </p:txBody>
      </p:sp>
      <p:graphicFrame>
        <p:nvGraphicFramePr>
          <p:cNvPr id="168" name="Google Shape;168;p31"/>
          <p:cNvGraphicFramePr/>
          <p:nvPr/>
        </p:nvGraphicFramePr>
        <p:xfrm>
          <a:off x="0" y="542375"/>
          <a:ext cx="3000000" cy="3000000"/>
        </p:xfrm>
        <a:graphic>
          <a:graphicData uri="http://schemas.openxmlformats.org/drawingml/2006/table">
            <a:tbl>
              <a:tblPr>
                <a:noFill/>
                <a:tableStyleId>{6B7CBA92-FB18-46EC-AC29-052EAB320D3A}</a:tableStyleId>
              </a:tblPr>
              <a:tblGrid>
                <a:gridCol w="639150"/>
                <a:gridCol w="1607200"/>
                <a:gridCol w="1747150"/>
                <a:gridCol w="2540275"/>
                <a:gridCol w="2610225"/>
              </a:tblGrid>
              <a:tr h="532300">
                <a:tc>
                  <a:txBody>
                    <a:bodyPr/>
                    <a:lstStyle/>
                    <a:p>
                      <a:pPr indent="0" lvl="0" marL="0" marR="0" rtl="0" algn="l">
                        <a:spcBef>
                          <a:spcPts val="0"/>
                        </a:spcBef>
                        <a:spcAft>
                          <a:spcPts val="0"/>
                        </a:spcAft>
                        <a:buNone/>
                      </a:pPr>
                      <a:r>
                        <a:rPr b="1" lang="en" sz="1100">
                          <a:solidFill>
                            <a:srgbClr val="1F1F1F"/>
                          </a:solidFill>
                          <a:latin typeface="Times New Roman"/>
                          <a:ea typeface="Times New Roman"/>
                          <a:cs typeface="Times New Roman"/>
                          <a:sym typeface="Times New Roman"/>
                        </a:rPr>
                        <a:t>    Sr. No. </a:t>
                      </a:r>
                      <a:endParaRPr sz="1100">
                        <a:solidFill>
                          <a:srgbClr val="1F1F1F"/>
                        </a:solidFill>
                        <a:latin typeface="Times New Roman"/>
                        <a:ea typeface="Times New Roman"/>
                        <a:cs typeface="Times New Roman"/>
                        <a:sym typeface="Times New Roman"/>
                      </a:endParaRPr>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 sz="1100">
                          <a:solidFill>
                            <a:srgbClr val="1F1F1F"/>
                          </a:solidFill>
                          <a:latin typeface="Times New Roman"/>
                          <a:ea typeface="Times New Roman"/>
                          <a:cs typeface="Times New Roman"/>
                          <a:sym typeface="Times New Roman"/>
                        </a:rPr>
                        <a:t>    Paper Title</a:t>
                      </a:r>
                      <a:endParaRPr sz="1100">
                        <a:solidFill>
                          <a:srgbClr val="1F1F1F"/>
                        </a:solidFill>
                        <a:latin typeface="Times New Roman"/>
                        <a:ea typeface="Times New Roman"/>
                        <a:cs typeface="Times New Roman"/>
                        <a:sym typeface="Times New Roman"/>
                      </a:endParaRPr>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 sz="1100">
                          <a:solidFill>
                            <a:srgbClr val="1F1F1F"/>
                          </a:solidFill>
                          <a:latin typeface="Times New Roman"/>
                          <a:ea typeface="Times New Roman"/>
                          <a:cs typeface="Times New Roman"/>
                          <a:sym typeface="Times New Roman"/>
                        </a:rPr>
                        <a:t>  Publication &amp; Authors</a:t>
                      </a:r>
                      <a:endParaRPr b="1" sz="1100">
                        <a:solidFill>
                          <a:srgbClr val="1F1F1F"/>
                        </a:solidFill>
                        <a:latin typeface="Times New Roman"/>
                        <a:ea typeface="Times New Roman"/>
                        <a:cs typeface="Times New Roman"/>
                        <a:sym typeface="Times New Roman"/>
                      </a:endParaRPr>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 sz="1100">
                          <a:solidFill>
                            <a:srgbClr val="1F1F1F"/>
                          </a:solidFill>
                          <a:latin typeface="Times New Roman"/>
                          <a:ea typeface="Times New Roman"/>
                          <a:cs typeface="Times New Roman"/>
                          <a:sym typeface="Times New Roman"/>
                        </a:rPr>
                        <a:t>Methodology / Key Contribution</a:t>
                      </a:r>
                      <a:endParaRPr sz="1100">
                        <a:solidFill>
                          <a:srgbClr val="1F1F1F"/>
                        </a:solidFill>
                        <a:latin typeface="Times New Roman"/>
                        <a:ea typeface="Times New Roman"/>
                        <a:cs typeface="Times New Roman"/>
                        <a:sym typeface="Times New Roman"/>
                      </a:endParaRPr>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 sz="1100">
                          <a:solidFill>
                            <a:srgbClr val="1F1F1F"/>
                          </a:solidFill>
                          <a:latin typeface="Times New Roman"/>
                          <a:ea typeface="Times New Roman"/>
                          <a:cs typeface="Times New Roman"/>
                          <a:sym typeface="Times New Roman"/>
                        </a:rPr>
                        <a:t>Future Scope / Research Challenges</a:t>
                      </a:r>
                      <a:endParaRPr sz="1100">
                        <a:solidFill>
                          <a:srgbClr val="1F1F1F"/>
                        </a:solidFill>
                        <a:latin typeface="Times New Roman"/>
                        <a:ea typeface="Times New Roman"/>
                        <a:cs typeface="Times New Roman"/>
                        <a:sym typeface="Times New Roman"/>
                      </a:endParaRPr>
                    </a:p>
                  </a:txBody>
                  <a:tcPr marT="20325" marB="20325" marR="1220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301850">
                <a:tc>
                  <a:txBody>
                    <a:bodyPr/>
                    <a:lstStyle/>
                    <a:p>
                      <a:pPr indent="0" lvl="0" marL="0" marR="0" rtl="0" algn="ctr">
                        <a:spcBef>
                          <a:spcPts val="0"/>
                        </a:spcBef>
                        <a:spcAft>
                          <a:spcPts val="0"/>
                        </a:spcAft>
                        <a:buNone/>
                      </a:pPr>
                      <a:r>
                        <a:rPr lang="en" sz="1100">
                          <a:solidFill>
                            <a:srgbClr val="1F1F1F"/>
                          </a:solidFill>
                          <a:latin typeface="Times New Roman"/>
                          <a:ea typeface="Times New Roman"/>
                          <a:cs typeface="Times New Roman"/>
                          <a:sym typeface="Times New Roman"/>
                        </a:rPr>
                        <a:t>8</a:t>
                      </a:r>
                      <a:endParaRPr sz="1100">
                        <a:solidFill>
                          <a:srgbClr val="1F1F1F"/>
                        </a:solidFill>
                        <a:latin typeface="Times New Roman"/>
                        <a:ea typeface="Times New Roman"/>
                        <a:cs typeface="Times New Roman"/>
                        <a:sym typeface="Times New Roman"/>
                      </a:endParaRPr>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 sz="1100">
                          <a:solidFill>
                            <a:srgbClr val="1F1F1F"/>
                          </a:solidFill>
                          <a:latin typeface="Times New Roman"/>
                          <a:ea typeface="Times New Roman"/>
                          <a:cs typeface="Times New Roman"/>
                          <a:sym typeface="Times New Roman"/>
                        </a:rPr>
                        <a:t>MAGneT-3D: Monocular and Domain-Generalizable Temporal 3D Detection </a:t>
                      </a:r>
                      <a:endParaRPr sz="1300"/>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1F1F1F"/>
                          </a:solidFill>
                          <a:latin typeface="Times New Roman"/>
                          <a:ea typeface="Times New Roman"/>
                          <a:cs typeface="Times New Roman"/>
                          <a:sym typeface="Times New Roman"/>
                        </a:rPr>
                        <a:t>arXiv preprint ECCVW 2026 </a:t>
                      </a:r>
                      <a:endParaRPr b="1" sz="1100">
                        <a:solidFill>
                          <a:srgbClr val="1F1F1F"/>
                        </a:solidFill>
                        <a:latin typeface="Times New Roman"/>
                        <a:ea typeface="Times New Roman"/>
                        <a:cs typeface="Times New Roman"/>
                        <a:sym typeface="Times New Roman"/>
                      </a:endParaRPr>
                    </a:p>
                    <a:p>
                      <a:pPr indent="0" lvl="0" marL="0" rtl="0" algn="l">
                        <a:spcBef>
                          <a:spcPts val="0"/>
                        </a:spcBef>
                        <a:spcAft>
                          <a:spcPts val="0"/>
                        </a:spcAft>
                        <a:buNone/>
                      </a:pPr>
                      <a:r>
                        <a:t/>
                      </a:r>
                      <a:endParaRPr sz="1100">
                        <a:solidFill>
                          <a:srgbClr val="1F1F1F"/>
                        </a:solidFill>
                        <a:latin typeface="Times New Roman"/>
                        <a:ea typeface="Times New Roman"/>
                        <a:cs typeface="Times New Roman"/>
                        <a:sym typeface="Times New Roman"/>
                      </a:endParaRPr>
                    </a:p>
                    <a:p>
                      <a:pPr indent="0" lvl="0" marL="0" rtl="0" algn="l">
                        <a:spcBef>
                          <a:spcPts val="0"/>
                        </a:spcBef>
                        <a:spcAft>
                          <a:spcPts val="0"/>
                        </a:spcAft>
                        <a:buNone/>
                      </a:pPr>
                      <a:r>
                        <a:rPr lang="en" sz="1100">
                          <a:solidFill>
                            <a:srgbClr val="1F1F1F"/>
                          </a:solidFill>
                          <a:latin typeface="Times New Roman"/>
                          <a:ea typeface="Times New Roman"/>
                          <a:cs typeface="Times New Roman"/>
                          <a:sym typeface="Times New Roman"/>
                        </a:rPr>
                        <a:t>M. Kotb, J. Meier, C. Reich, O. Dhaouadi, L. Denninger, D. Cremers</a:t>
                      </a:r>
                      <a:r>
                        <a:rPr lang="en" sz="1600"/>
                        <a:t> </a:t>
                      </a:r>
                      <a:endParaRPr sz="1600"/>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1F1F1F"/>
                          </a:solidFill>
                          <a:latin typeface="Times New Roman"/>
                          <a:ea typeface="Times New Roman"/>
                          <a:cs typeface="Times New Roman"/>
                          <a:sym typeface="Times New Roman"/>
                        </a:rPr>
                        <a:t>Develops a monocular temporal 3D object detection architecture optimized for zero-shot domain generalizability across unseen driving environments with direction sense</a:t>
                      </a:r>
                      <a:endParaRPr sz="1600"/>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1F1F1F"/>
                          </a:solidFill>
                          <a:latin typeface="Times New Roman"/>
                          <a:ea typeface="Times New Roman"/>
                          <a:cs typeface="Times New Roman"/>
                          <a:sym typeface="Times New Roman"/>
                        </a:rPr>
                        <a:t>Mitigating severe monocular depth ambiguity under extreme fog or snowfall, reducing real-time inference latency</a:t>
                      </a:r>
                      <a:r>
                        <a:rPr lang="en" sz="1600"/>
                        <a:t> </a:t>
                      </a:r>
                      <a:endParaRPr sz="1600"/>
                    </a:p>
                  </a:txBody>
                  <a:tcPr marT="20325" marB="20325" marR="1220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301850">
                <a:tc>
                  <a:txBody>
                    <a:bodyPr/>
                    <a:lstStyle/>
                    <a:p>
                      <a:pPr indent="0" lvl="0" marL="0" marR="0" rtl="0" algn="ctr">
                        <a:spcBef>
                          <a:spcPts val="0"/>
                        </a:spcBef>
                        <a:spcAft>
                          <a:spcPts val="0"/>
                        </a:spcAft>
                        <a:buNone/>
                      </a:pPr>
                      <a:r>
                        <a:rPr lang="en" sz="1100">
                          <a:solidFill>
                            <a:srgbClr val="1F1F1F"/>
                          </a:solidFill>
                          <a:latin typeface="Times New Roman"/>
                          <a:ea typeface="Times New Roman"/>
                          <a:cs typeface="Times New Roman"/>
                          <a:sym typeface="Times New Roman"/>
                        </a:rPr>
                        <a:t>9</a:t>
                      </a:r>
                      <a:endParaRPr sz="1100">
                        <a:solidFill>
                          <a:srgbClr val="1F1F1F"/>
                        </a:solidFill>
                        <a:latin typeface="Times New Roman"/>
                        <a:ea typeface="Times New Roman"/>
                        <a:cs typeface="Times New Roman"/>
                        <a:sym typeface="Times New Roman"/>
                      </a:endParaRPr>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 sz="1100">
                          <a:solidFill>
                            <a:srgbClr val="1F1F1F"/>
                          </a:solidFill>
                          <a:latin typeface="Times New Roman"/>
                          <a:ea typeface="Times New Roman"/>
                          <a:cs typeface="Times New Roman"/>
                          <a:sym typeface="Times New Roman"/>
                        </a:rPr>
                        <a:t>Parallel LiDARs Meet the Foggy Weather </a:t>
                      </a:r>
                      <a:endParaRPr sz="1300"/>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1F1F1F"/>
                          </a:solidFill>
                          <a:latin typeface="Times New Roman"/>
                          <a:ea typeface="Times New Roman"/>
                          <a:cs typeface="Times New Roman"/>
                          <a:sym typeface="Times New Roman"/>
                        </a:rPr>
                        <a:t>IEEE J. Radio Freq. Identif. 2022 </a:t>
                      </a:r>
                      <a:endParaRPr b="1" sz="1100">
                        <a:solidFill>
                          <a:srgbClr val="1F1F1F"/>
                        </a:solidFill>
                        <a:latin typeface="Times New Roman"/>
                        <a:ea typeface="Times New Roman"/>
                        <a:cs typeface="Times New Roman"/>
                        <a:sym typeface="Times New Roman"/>
                      </a:endParaRPr>
                    </a:p>
                    <a:p>
                      <a:pPr indent="0" lvl="0" marL="0" rtl="0" algn="l">
                        <a:spcBef>
                          <a:spcPts val="0"/>
                        </a:spcBef>
                        <a:spcAft>
                          <a:spcPts val="0"/>
                        </a:spcAft>
                        <a:buNone/>
                      </a:pPr>
                      <a:r>
                        <a:t/>
                      </a:r>
                      <a:endParaRPr sz="1100">
                        <a:solidFill>
                          <a:srgbClr val="1F1F1F"/>
                        </a:solidFill>
                        <a:latin typeface="Times New Roman"/>
                        <a:ea typeface="Times New Roman"/>
                        <a:cs typeface="Times New Roman"/>
                        <a:sym typeface="Times New Roman"/>
                      </a:endParaRPr>
                    </a:p>
                    <a:p>
                      <a:pPr indent="0" lvl="0" marL="0" rtl="0" algn="l">
                        <a:spcBef>
                          <a:spcPts val="0"/>
                        </a:spcBef>
                        <a:spcAft>
                          <a:spcPts val="0"/>
                        </a:spcAft>
                        <a:buNone/>
                      </a:pPr>
                      <a:r>
                        <a:rPr lang="en" sz="1100">
                          <a:solidFill>
                            <a:srgbClr val="1F1F1F"/>
                          </a:solidFill>
                          <a:latin typeface="Times New Roman"/>
                          <a:ea typeface="Times New Roman"/>
                          <a:cs typeface="Times New Roman"/>
                          <a:sym typeface="Times New Roman"/>
                        </a:rPr>
                        <a:t> Y. Liu, Y. Tian, B. Sun, Y. Wang, F.-Y. Wang </a:t>
                      </a:r>
                      <a:endParaRPr sz="1600"/>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1F1F1F"/>
                          </a:solidFill>
                          <a:latin typeface="Times New Roman"/>
                          <a:ea typeface="Times New Roman"/>
                          <a:cs typeface="Times New Roman"/>
                          <a:sym typeface="Times New Roman"/>
                        </a:rPr>
                        <a:t>Explores multi-LiDAR parallel sensing configurations to counteract fog-induced signal attenuation and backscatter through redundant geometric line-of-sight signal aggregation</a:t>
                      </a:r>
                      <a:r>
                        <a:rPr lang="en" sz="1600"/>
                        <a:t>. </a:t>
                      </a:r>
                      <a:endParaRPr sz="1600"/>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1F1F1F"/>
                          </a:solidFill>
                          <a:latin typeface="Times New Roman"/>
                          <a:ea typeface="Times New Roman"/>
                          <a:cs typeface="Times New Roman"/>
                          <a:sym typeface="Times New Roman"/>
                        </a:rPr>
                        <a:t>Optimizing multi-sensor deployment cost and power efficiency, and evaluating under mixed rain, snow, and fog conditions. </a:t>
                      </a:r>
                      <a:endParaRPr sz="1600"/>
                    </a:p>
                  </a:txBody>
                  <a:tcPr marT="20325" marB="20325" marR="1220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301850">
                <a:tc>
                  <a:txBody>
                    <a:bodyPr/>
                    <a:lstStyle/>
                    <a:p>
                      <a:pPr indent="0" lvl="0" marL="0" marR="0" rtl="0" algn="ctr">
                        <a:spcBef>
                          <a:spcPts val="0"/>
                        </a:spcBef>
                        <a:spcAft>
                          <a:spcPts val="0"/>
                        </a:spcAft>
                        <a:buNone/>
                      </a:pPr>
                      <a:r>
                        <a:rPr lang="en" sz="1100">
                          <a:solidFill>
                            <a:srgbClr val="1F1F1F"/>
                          </a:solidFill>
                          <a:latin typeface="Times New Roman"/>
                          <a:ea typeface="Times New Roman"/>
                          <a:cs typeface="Times New Roman"/>
                          <a:sym typeface="Times New Roman"/>
                        </a:rPr>
                        <a:t>10</a:t>
                      </a:r>
                      <a:endParaRPr sz="1100">
                        <a:solidFill>
                          <a:srgbClr val="1F1F1F"/>
                        </a:solidFill>
                        <a:latin typeface="Times New Roman"/>
                        <a:ea typeface="Times New Roman"/>
                        <a:cs typeface="Times New Roman"/>
                        <a:sym typeface="Times New Roman"/>
                      </a:endParaRPr>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 sz="1100">
                          <a:solidFill>
                            <a:srgbClr val="1F1F1F"/>
                          </a:solidFill>
                          <a:latin typeface="Times New Roman"/>
                          <a:ea typeface="Times New Roman"/>
                          <a:cs typeface="Times New Roman"/>
                          <a:sym typeface="Times New Roman"/>
                        </a:rPr>
                        <a:t>Joint Impact of Fog and Aerosol Particle Size Distribution In LiDAR-Based 3D Object Detection Systems </a:t>
                      </a:r>
                      <a:endParaRPr sz="1300"/>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1F1F1F"/>
                          </a:solidFill>
                          <a:latin typeface="Times New Roman"/>
                          <a:ea typeface="Times New Roman"/>
                          <a:cs typeface="Times New Roman"/>
                          <a:sym typeface="Times New Roman"/>
                        </a:rPr>
                        <a:t>IEEE Transactions 2026 </a:t>
                      </a:r>
                      <a:endParaRPr b="1" sz="1100">
                        <a:solidFill>
                          <a:srgbClr val="1F1F1F"/>
                        </a:solidFill>
                        <a:latin typeface="Times New Roman"/>
                        <a:ea typeface="Times New Roman"/>
                        <a:cs typeface="Times New Roman"/>
                        <a:sym typeface="Times New Roman"/>
                      </a:endParaRPr>
                    </a:p>
                    <a:p>
                      <a:pPr indent="0" lvl="0" marL="0" rtl="0" algn="l">
                        <a:spcBef>
                          <a:spcPts val="0"/>
                        </a:spcBef>
                        <a:spcAft>
                          <a:spcPts val="0"/>
                        </a:spcAft>
                        <a:buNone/>
                      </a:pPr>
                      <a:r>
                        <a:t/>
                      </a:r>
                      <a:endParaRPr sz="1100">
                        <a:solidFill>
                          <a:srgbClr val="1F1F1F"/>
                        </a:solidFill>
                        <a:latin typeface="Times New Roman"/>
                        <a:ea typeface="Times New Roman"/>
                        <a:cs typeface="Times New Roman"/>
                        <a:sym typeface="Times New Roman"/>
                      </a:endParaRPr>
                    </a:p>
                    <a:p>
                      <a:pPr indent="0" lvl="0" marL="0" rtl="0" algn="l">
                        <a:spcBef>
                          <a:spcPts val="0"/>
                        </a:spcBef>
                        <a:spcAft>
                          <a:spcPts val="0"/>
                        </a:spcAft>
                        <a:buNone/>
                      </a:pPr>
                      <a:r>
                        <a:rPr lang="en" sz="1100">
                          <a:solidFill>
                            <a:srgbClr val="1F1F1F"/>
                          </a:solidFill>
                          <a:latin typeface="Times New Roman"/>
                          <a:ea typeface="Times New Roman"/>
                          <a:cs typeface="Times New Roman"/>
                          <a:sym typeface="Times New Roman"/>
                        </a:rPr>
                        <a:t> P. S. Dangas, G. Sharma, M. Pattanaik, S. N. Singh </a:t>
                      </a:r>
                      <a:endParaRPr sz="1100">
                        <a:solidFill>
                          <a:srgbClr val="1F1F1F"/>
                        </a:solidFill>
                        <a:latin typeface="Times New Roman"/>
                        <a:ea typeface="Times New Roman"/>
                        <a:cs typeface="Times New Roman"/>
                        <a:sym typeface="Times New Roman"/>
                      </a:endParaRPr>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1F1F1F"/>
                          </a:solidFill>
                          <a:latin typeface="Times New Roman"/>
                          <a:ea typeface="Times New Roman"/>
                          <a:cs typeface="Times New Roman"/>
                          <a:sym typeface="Times New Roman"/>
                        </a:rPr>
                        <a:t>Investigates the coupled physical degradation effects of atmospheric fog droplets and aerosol particulate size distributions on LiDAR beam penetration and 3D bounding box regression stability. </a:t>
                      </a:r>
                      <a:endParaRPr sz="1100">
                        <a:solidFill>
                          <a:srgbClr val="1F1F1F"/>
                        </a:solidFill>
                        <a:latin typeface="Times New Roman"/>
                        <a:ea typeface="Times New Roman"/>
                        <a:cs typeface="Times New Roman"/>
                        <a:sym typeface="Times New Roman"/>
                      </a:endParaRPr>
                    </a:p>
                  </a:txBody>
                  <a:tcPr marT="20325" marB="20325" marR="1525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1F1F1F"/>
                          </a:solidFill>
                          <a:latin typeface="Times New Roman"/>
                          <a:ea typeface="Times New Roman"/>
                          <a:cs typeface="Times New Roman"/>
                          <a:sym typeface="Times New Roman"/>
                        </a:rPr>
                        <a:t>Developing real-time adaptive atmospheric filtering modules, extending joint particle modeling to multi-wavelength LiDAR sensors, and validating against controlled physical aerosol chamber benchmarks. </a:t>
                      </a:r>
                      <a:endParaRPr sz="1600"/>
                    </a:p>
                  </a:txBody>
                  <a:tcPr marT="20325" marB="20325" marR="12200" marL="122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69" name="Google Shape;169;p31"/>
          <p:cNvSpPr txBox="1"/>
          <p:nvPr/>
        </p:nvSpPr>
        <p:spPr>
          <a:xfrm>
            <a:off x="2822500" y="0"/>
            <a:ext cx="3000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chemeClr val="dk1"/>
                </a:solidFill>
                <a:latin typeface="Times New Roman"/>
                <a:ea typeface="Times New Roman"/>
                <a:cs typeface="Times New Roman"/>
                <a:sym typeface="Times New Roman"/>
              </a:rPr>
              <a:t>Literature Review</a:t>
            </a:r>
            <a:endParaRPr sz="11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2"/>
          <p:cNvSpPr txBox="1"/>
          <p:nvPr>
            <p:ph type="title"/>
          </p:nvPr>
        </p:nvSpPr>
        <p:spPr>
          <a:xfrm>
            <a:off x="743775" y="76453"/>
            <a:ext cx="7505700" cy="954600"/>
          </a:xfrm>
          <a:prstGeom prst="rect">
            <a:avLst/>
          </a:prstGeom>
          <a:noFill/>
          <a:ln>
            <a:noFill/>
          </a:ln>
        </p:spPr>
        <p:txBody>
          <a:bodyPr anchorCtr="0" anchor="t" bIns="68575" lIns="68575" spcFirstLastPara="1" rIns="68575" wrap="square" tIns="68575">
            <a:noAutofit/>
          </a:bodyPr>
          <a:lstStyle/>
          <a:p>
            <a:pPr indent="0" lvl="0" marL="0" rtl="0" algn="ctr">
              <a:lnSpc>
                <a:spcPct val="90000"/>
              </a:lnSpc>
              <a:spcBef>
                <a:spcPts val="0"/>
              </a:spcBef>
              <a:spcAft>
                <a:spcPts val="0"/>
              </a:spcAft>
              <a:buClr>
                <a:schemeClr val="dk1"/>
              </a:buClr>
              <a:buSzPts val="2300"/>
              <a:buFont typeface="Times New Roman"/>
              <a:buNone/>
            </a:pPr>
            <a:r>
              <a:rPr b="1" lang="en">
                <a:latin typeface="Times New Roman"/>
                <a:ea typeface="Times New Roman"/>
                <a:cs typeface="Times New Roman"/>
                <a:sym typeface="Times New Roman"/>
              </a:rPr>
              <a:t>Research Gap Analysis</a:t>
            </a:r>
            <a:br>
              <a:rPr lang="en">
                <a:latin typeface="Times New Roman"/>
                <a:ea typeface="Times New Roman"/>
                <a:cs typeface="Times New Roman"/>
                <a:sym typeface="Times New Roman"/>
              </a:rPr>
            </a:br>
            <a:endParaRPr>
              <a:latin typeface="Times New Roman"/>
              <a:ea typeface="Times New Roman"/>
              <a:cs typeface="Times New Roman"/>
              <a:sym typeface="Times New Roman"/>
            </a:endParaRPr>
          </a:p>
        </p:txBody>
      </p:sp>
      <p:sp>
        <p:nvSpPr>
          <p:cNvPr id="175" name="Google Shape;175;p32"/>
          <p:cNvSpPr txBox="1"/>
          <p:nvPr>
            <p:ph idx="1" type="body"/>
          </p:nvPr>
        </p:nvSpPr>
        <p:spPr>
          <a:xfrm>
            <a:off x="743778" y="1463952"/>
            <a:ext cx="7505700" cy="2448000"/>
          </a:xfrm>
          <a:prstGeom prst="rect">
            <a:avLst/>
          </a:prstGeom>
          <a:noFill/>
          <a:ln>
            <a:noFill/>
          </a:ln>
        </p:spPr>
        <p:txBody>
          <a:bodyPr anchorCtr="0" anchor="t" bIns="68575" lIns="68575" spcFirstLastPara="1" rIns="68575" wrap="square" tIns="68575">
            <a:noAutofit/>
          </a:bodyPr>
          <a:lstStyle/>
          <a:p>
            <a:pPr indent="-254000" lvl="0" marL="457200" rtl="0" algn="l">
              <a:lnSpc>
                <a:spcPct val="90000"/>
              </a:lnSpc>
              <a:spcBef>
                <a:spcPts val="0"/>
              </a:spcBef>
              <a:spcAft>
                <a:spcPts val="0"/>
              </a:spcAft>
              <a:buClr>
                <a:schemeClr val="dk1"/>
              </a:buClr>
              <a:buSzPts val="1000"/>
              <a:buNone/>
            </a:pPr>
            <a:r>
              <a:rPr lang="en" sz="100">
                <a:latin typeface="Times New Roman"/>
                <a:ea typeface="Times New Roman"/>
                <a:cs typeface="Times New Roman"/>
                <a:sym typeface="Times New Roman"/>
              </a:rPr>
              <a:t>.</a:t>
            </a:r>
            <a:endParaRPr sz="100">
              <a:latin typeface="Times New Roman"/>
              <a:ea typeface="Times New Roman"/>
              <a:cs typeface="Times New Roman"/>
              <a:sym typeface="Times New Roman"/>
            </a:endParaRPr>
          </a:p>
        </p:txBody>
      </p:sp>
      <p:sp>
        <p:nvSpPr>
          <p:cNvPr id="176" name="Google Shape;176;p32"/>
          <p:cNvSpPr txBox="1"/>
          <p:nvPr/>
        </p:nvSpPr>
        <p:spPr>
          <a:xfrm>
            <a:off x="28050" y="793500"/>
            <a:ext cx="9087900" cy="43500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chemeClr val="dk1"/>
              </a:buClr>
              <a:buSzPts val="1200"/>
              <a:buChar char="➢"/>
            </a:pPr>
            <a:r>
              <a:rPr b="1" lang="en">
                <a:solidFill>
                  <a:schemeClr val="dk1"/>
                </a:solidFill>
                <a:latin typeface="Times New Roman"/>
                <a:ea typeface="Times New Roman"/>
                <a:cs typeface="Times New Roman"/>
                <a:sym typeface="Times New Roman"/>
              </a:rPr>
              <a:t>Clear-Weather Dataset Bias:</a:t>
            </a:r>
            <a:r>
              <a:rPr lang="en" sz="1300">
                <a:solidFill>
                  <a:schemeClr val="dk1"/>
                </a:solidFill>
                <a:latin typeface="Times New Roman"/>
                <a:ea typeface="Times New Roman"/>
                <a:cs typeface="Times New Roman"/>
                <a:sym typeface="Times New Roman"/>
              </a:rPr>
              <a:t> </a:t>
            </a:r>
            <a:endParaRPr sz="13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rPr lang="en" sz="1200">
                <a:solidFill>
                  <a:schemeClr val="dk1"/>
                </a:solidFill>
                <a:latin typeface="Times New Roman"/>
                <a:ea typeface="Times New Roman"/>
                <a:cs typeface="Times New Roman"/>
                <a:sym typeface="Times New Roman"/>
              </a:rPr>
              <a:t>Standard benchmarks (e.g., KITTI) were collected almost exclusively under clear, daytime conditions. Models trained on clean data experience severe domain shift and detection failure when exposed to signal attenuation and backscatter noise.</a:t>
            </a:r>
            <a:endParaRPr sz="12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Char char="➢"/>
            </a:pPr>
            <a:r>
              <a:rPr b="1" lang="en">
                <a:solidFill>
                  <a:schemeClr val="dk1"/>
                </a:solidFill>
                <a:latin typeface="Times New Roman"/>
                <a:ea typeface="Times New Roman"/>
                <a:cs typeface="Times New Roman"/>
                <a:sym typeface="Times New Roman"/>
              </a:rPr>
              <a:t>Naive Ground-Truth Sampling Mismatch</a:t>
            </a:r>
            <a:r>
              <a:rPr lang="e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rPr lang="en" sz="1200">
                <a:solidFill>
                  <a:schemeClr val="dk1"/>
                </a:solidFill>
                <a:latin typeface="Times New Roman"/>
                <a:ea typeface="Times New Roman"/>
                <a:cs typeface="Times New Roman"/>
                <a:sym typeface="Times New Roman"/>
              </a:rPr>
              <a:t> Standard 3D data augmentation uses Ground-Truth (GT) sampling, copying isolated object point clouds into new training scenes. When clean, high-density clear-weather objects are inserted into weather-degraded scenes without applying corresponding physical attenuation, models learn artificial spatial contrast artifacts rather than atmospheric-invariant features.</a:t>
            </a:r>
            <a:endParaRPr sz="12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Char char="➢"/>
            </a:pPr>
            <a:r>
              <a:rPr b="1" lang="en">
                <a:solidFill>
                  <a:schemeClr val="dk1"/>
                </a:solidFill>
                <a:latin typeface="Times New Roman"/>
                <a:ea typeface="Times New Roman"/>
                <a:cs typeface="Times New Roman"/>
                <a:sym typeface="Times New Roman"/>
              </a:rPr>
              <a:t>Underrepresented Complex Weather Modes</a:t>
            </a:r>
            <a:r>
              <a:rPr lang="en">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rPr lang="en" sz="1200">
                <a:solidFill>
                  <a:schemeClr val="dk1"/>
                </a:solidFill>
                <a:latin typeface="Times New Roman"/>
                <a:ea typeface="Times New Roman"/>
                <a:cs typeface="Times New Roman"/>
                <a:sym typeface="Times New Roman"/>
              </a:rPr>
              <a:t>Existing literature primarily evaluates isolated weather phenomena like fog or rain. Unified studies incorporating non-standard atmospheric disturbances—such as smoke, aerosols, and wet-road wheel spray—remain limited.</a:t>
            </a:r>
            <a:endParaRPr sz="12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Char char="➢"/>
            </a:pPr>
            <a:r>
              <a:rPr b="1" lang="en">
                <a:solidFill>
                  <a:schemeClr val="dk1"/>
                </a:solidFill>
                <a:latin typeface="Times New Roman"/>
                <a:ea typeface="Times New Roman"/>
                <a:cs typeface="Times New Roman"/>
                <a:sym typeface="Times New Roman"/>
              </a:rPr>
              <a:t>Hardware and Resource Constraints</a:t>
            </a:r>
            <a:r>
              <a:rPr lang="en">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1200"/>
              </a:spcAft>
              <a:buNone/>
            </a:pPr>
            <a:r>
              <a:rPr lang="en" sz="1200">
                <a:solidFill>
                  <a:schemeClr val="dk1"/>
                </a:solidFill>
                <a:latin typeface="Times New Roman"/>
                <a:ea typeface="Times New Roman"/>
                <a:cs typeface="Times New Roman"/>
                <a:sym typeface="Times New Roman"/>
              </a:rPr>
              <a:t>Advanced 3D detection architectures often assume high-end hardware environments (&gt;24GB VRAM). Deployment strategies for resource-constrained platforms (e.g., legacy 4 GB GPUs like the NVIDIA Quadro K2200) require specific spatial tuning and gradient optimization.</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3"/>
          <p:cNvSpPr txBox="1"/>
          <p:nvPr>
            <p:ph type="title"/>
          </p:nvPr>
        </p:nvSpPr>
        <p:spPr>
          <a:xfrm>
            <a:off x="819150" y="0"/>
            <a:ext cx="7505700" cy="727800"/>
          </a:xfrm>
          <a:prstGeom prst="rect">
            <a:avLst/>
          </a:prstGeom>
        </p:spPr>
        <p:txBody>
          <a:bodyPr anchorCtr="0" anchor="t" bIns="68575" lIns="68575" spcFirstLastPara="1" rIns="68575" wrap="square" tIns="68575">
            <a:normAutofit/>
          </a:bodyPr>
          <a:lstStyle/>
          <a:p>
            <a:pPr indent="0" lvl="0" marL="0" rtl="0" algn="ctr">
              <a:spcBef>
                <a:spcPts val="0"/>
              </a:spcBef>
              <a:spcAft>
                <a:spcPts val="0"/>
              </a:spcAft>
              <a:buClr>
                <a:schemeClr val="dk1"/>
              </a:buClr>
              <a:buSzPts val="2300"/>
              <a:buFont typeface="Times New Roman"/>
              <a:buNone/>
            </a:pPr>
            <a:r>
              <a:rPr b="1" lang="en">
                <a:latin typeface="Times New Roman"/>
                <a:ea typeface="Times New Roman"/>
                <a:cs typeface="Times New Roman"/>
                <a:sym typeface="Times New Roman"/>
              </a:rPr>
              <a:t>Research Objective(s)</a:t>
            </a:r>
            <a:endParaRPr>
              <a:latin typeface="Times New Roman"/>
              <a:ea typeface="Times New Roman"/>
              <a:cs typeface="Times New Roman"/>
              <a:sym typeface="Times New Roman"/>
            </a:endParaRPr>
          </a:p>
        </p:txBody>
      </p:sp>
      <p:sp>
        <p:nvSpPr>
          <p:cNvPr id="182" name="Google Shape;182;p33"/>
          <p:cNvSpPr txBox="1"/>
          <p:nvPr>
            <p:ph idx="1" type="body"/>
          </p:nvPr>
        </p:nvSpPr>
        <p:spPr>
          <a:xfrm>
            <a:off x="690850" y="672775"/>
            <a:ext cx="7505700" cy="2448000"/>
          </a:xfrm>
          <a:prstGeom prst="rect">
            <a:avLst/>
          </a:prstGeom>
        </p:spPr>
        <p:txBody>
          <a:bodyPr anchorCtr="0" anchor="t" bIns="68575" lIns="68575" spcFirstLastPara="1" rIns="68575" wrap="square" tIns="68575">
            <a:noAutofit/>
          </a:bodyPr>
          <a:lstStyle/>
          <a:p>
            <a:pPr indent="0" lvl="0" marL="457200" rtl="0" algn="just">
              <a:lnSpc>
                <a:spcPct val="115000"/>
              </a:lnSpc>
              <a:spcBef>
                <a:spcPts val="800"/>
              </a:spcBef>
              <a:spcAft>
                <a:spcPts val="0"/>
              </a:spcAft>
              <a:buSzPts val="688"/>
              <a:buNone/>
            </a:pPr>
            <a:r>
              <a:rPr lang="en" sz="1225">
                <a:latin typeface="Times New Roman"/>
                <a:ea typeface="Times New Roman"/>
                <a:cs typeface="Times New Roman"/>
                <a:sym typeface="Times New Roman"/>
              </a:rPr>
              <a:t>To address these gaps, this research establishes four core objectives:</a:t>
            </a:r>
            <a:endParaRPr sz="1225">
              <a:latin typeface="Times New Roman"/>
              <a:ea typeface="Times New Roman"/>
              <a:cs typeface="Times New Roman"/>
              <a:sym typeface="Times New Roman"/>
            </a:endParaRPr>
          </a:p>
          <a:p>
            <a:pPr indent="-228600" lvl="0" marL="457200" rtl="0" algn="just">
              <a:lnSpc>
                <a:spcPct val="115000"/>
              </a:lnSpc>
              <a:spcBef>
                <a:spcPts val="1200"/>
              </a:spcBef>
              <a:spcAft>
                <a:spcPts val="0"/>
              </a:spcAft>
              <a:buSzPts val="688"/>
              <a:buNone/>
            </a:pPr>
            <a:r>
              <a:rPr lang="en" sz="1225">
                <a:latin typeface="Times New Roman"/>
                <a:ea typeface="Times New Roman"/>
                <a:cs typeface="Times New Roman"/>
                <a:sym typeface="Times New Roman"/>
              </a:rPr>
              <a:t>●</a:t>
            </a:r>
            <a:r>
              <a:rPr lang="en" sz="1038">
                <a:latin typeface="Times New Roman"/>
                <a:ea typeface="Times New Roman"/>
                <a:cs typeface="Times New Roman"/>
                <a:sym typeface="Times New Roman"/>
              </a:rPr>
              <a:t>  </a:t>
            </a:r>
            <a:r>
              <a:rPr lang="en" sz="1038">
                <a:latin typeface="Times New Roman"/>
                <a:ea typeface="Times New Roman"/>
                <a:cs typeface="Times New Roman"/>
                <a:sym typeface="Times New Roman"/>
              </a:rPr>
              <a:t>     </a:t>
            </a:r>
            <a:r>
              <a:rPr b="1" lang="en" sz="1225">
                <a:latin typeface="Times New Roman"/>
                <a:ea typeface="Times New Roman"/>
                <a:cs typeface="Times New Roman"/>
                <a:sym typeface="Times New Roman"/>
              </a:rPr>
              <a:t>Objective 1</a:t>
            </a:r>
            <a:r>
              <a:rPr lang="en" sz="1225">
                <a:latin typeface="Times New Roman"/>
                <a:ea typeface="Times New Roman"/>
                <a:cs typeface="Times New Roman"/>
                <a:sym typeface="Times New Roman"/>
              </a:rPr>
              <a:t>:</a:t>
            </a:r>
            <a:endParaRPr sz="1225">
              <a:latin typeface="Times New Roman"/>
              <a:ea typeface="Times New Roman"/>
              <a:cs typeface="Times New Roman"/>
              <a:sym typeface="Times New Roman"/>
            </a:endParaRPr>
          </a:p>
          <a:p>
            <a:pPr indent="0" lvl="0" marL="457200" rtl="0" algn="just">
              <a:lnSpc>
                <a:spcPct val="115000"/>
              </a:lnSpc>
              <a:spcBef>
                <a:spcPts val="1200"/>
              </a:spcBef>
              <a:spcAft>
                <a:spcPts val="0"/>
              </a:spcAft>
              <a:buSzPts val="688"/>
              <a:buNone/>
            </a:pPr>
            <a:r>
              <a:rPr lang="en" sz="1225">
                <a:latin typeface="Times New Roman"/>
                <a:ea typeface="Times New Roman"/>
                <a:cs typeface="Times New Roman"/>
                <a:sym typeface="Times New Roman"/>
              </a:rPr>
              <a:t>Develop a physics-grounded data augmentation pipeline that simulates multi-weather conditions—including fog, rain, snow, smoke, aerosol, and wet-road spray—on the KITTI 3D dataset.</a:t>
            </a:r>
            <a:endParaRPr sz="1225">
              <a:latin typeface="Times New Roman"/>
              <a:ea typeface="Times New Roman"/>
              <a:cs typeface="Times New Roman"/>
              <a:sym typeface="Times New Roman"/>
            </a:endParaRPr>
          </a:p>
          <a:p>
            <a:pPr indent="-228600" lvl="0" marL="457200" rtl="0" algn="just">
              <a:lnSpc>
                <a:spcPct val="115000"/>
              </a:lnSpc>
              <a:spcBef>
                <a:spcPts val="1200"/>
              </a:spcBef>
              <a:spcAft>
                <a:spcPts val="0"/>
              </a:spcAft>
              <a:buSzPts val="688"/>
              <a:buNone/>
            </a:pPr>
            <a:r>
              <a:rPr lang="en" sz="1225">
                <a:latin typeface="Times New Roman"/>
                <a:ea typeface="Times New Roman"/>
                <a:cs typeface="Times New Roman"/>
                <a:sym typeface="Times New Roman"/>
              </a:rPr>
              <a:t>●</a:t>
            </a:r>
            <a:r>
              <a:rPr lang="en" sz="1038">
                <a:latin typeface="Times New Roman"/>
                <a:ea typeface="Times New Roman"/>
                <a:cs typeface="Times New Roman"/>
                <a:sym typeface="Times New Roman"/>
              </a:rPr>
              <a:t>       </a:t>
            </a:r>
            <a:r>
              <a:rPr b="1" lang="en" sz="1225">
                <a:latin typeface="Times New Roman"/>
                <a:ea typeface="Times New Roman"/>
                <a:cs typeface="Times New Roman"/>
                <a:sym typeface="Times New Roman"/>
              </a:rPr>
              <a:t>Objective 2</a:t>
            </a:r>
            <a:r>
              <a:rPr lang="en" sz="1225">
                <a:latin typeface="Times New Roman"/>
                <a:ea typeface="Times New Roman"/>
                <a:cs typeface="Times New Roman"/>
                <a:sym typeface="Times New Roman"/>
              </a:rPr>
              <a:t>:</a:t>
            </a:r>
            <a:endParaRPr sz="1225">
              <a:latin typeface="Times New Roman"/>
              <a:ea typeface="Times New Roman"/>
              <a:cs typeface="Times New Roman"/>
              <a:sym typeface="Times New Roman"/>
            </a:endParaRPr>
          </a:p>
          <a:p>
            <a:pPr indent="0" lvl="0" marL="457200" rtl="0" algn="just">
              <a:lnSpc>
                <a:spcPct val="115000"/>
              </a:lnSpc>
              <a:spcBef>
                <a:spcPts val="1200"/>
              </a:spcBef>
              <a:spcAft>
                <a:spcPts val="0"/>
              </a:spcAft>
              <a:buSzPts val="688"/>
              <a:buNone/>
            </a:pPr>
            <a:r>
              <a:rPr lang="en" sz="1225">
                <a:latin typeface="Times New Roman"/>
                <a:ea typeface="Times New Roman"/>
                <a:cs typeface="Times New Roman"/>
                <a:sym typeface="Times New Roman"/>
              </a:rPr>
              <a:t> Implement a domain-consistent Ground-Truth (GT) sampling strategy that applies matching physical attenuation parameters to sampled objects, maintaining environmental consistency across scenes.</a:t>
            </a:r>
            <a:endParaRPr sz="1225">
              <a:latin typeface="Times New Roman"/>
              <a:ea typeface="Times New Roman"/>
              <a:cs typeface="Times New Roman"/>
              <a:sym typeface="Times New Roman"/>
            </a:endParaRPr>
          </a:p>
          <a:p>
            <a:pPr indent="-228600" lvl="0" marL="457200" rtl="0" algn="just">
              <a:lnSpc>
                <a:spcPct val="115000"/>
              </a:lnSpc>
              <a:spcBef>
                <a:spcPts val="1200"/>
              </a:spcBef>
              <a:spcAft>
                <a:spcPts val="0"/>
              </a:spcAft>
              <a:buSzPts val="688"/>
              <a:buNone/>
            </a:pPr>
            <a:r>
              <a:rPr lang="en" sz="1225">
                <a:latin typeface="Times New Roman"/>
                <a:ea typeface="Times New Roman"/>
                <a:cs typeface="Times New Roman"/>
                <a:sym typeface="Times New Roman"/>
              </a:rPr>
              <a:t>●</a:t>
            </a:r>
            <a:r>
              <a:rPr lang="en" sz="1038">
                <a:latin typeface="Times New Roman"/>
                <a:ea typeface="Times New Roman"/>
                <a:cs typeface="Times New Roman"/>
                <a:sym typeface="Times New Roman"/>
              </a:rPr>
              <a:t>       </a:t>
            </a:r>
            <a:r>
              <a:rPr b="1" lang="en" sz="1225">
                <a:latin typeface="Times New Roman"/>
                <a:ea typeface="Times New Roman"/>
                <a:cs typeface="Times New Roman"/>
                <a:sym typeface="Times New Roman"/>
              </a:rPr>
              <a:t>Objective 3</a:t>
            </a:r>
            <a:r>
              <a:rPr lang="en" sz="1225">
                <a:latin typeface="Times New Roman"/>
                <a:ea typeface="Times New Roman"/>
                <a:cs typeface="Times New Roman"/>
                <a:sym typeface="Times New Roman"/>
              </a:rPr>
              <a:t>:</a:t>
            </a:r>
            <a:endParaRPr sz="1225">
              <a:latin typeface="Times New Roman"/>
              <a:ea typeface="Times New Roman"/>
              <a:cs typeface="Times New Roman"/>
              <a:sym typeface="Times New Roman"/>
            </a:endParaRPr>
          </a:p>
          <a:p>
            <a:pPr indent="0" lvl="0" marL="457200" rtl="0" algn="just">
              <a:lnSpc>
                <a:spcPct val="115000"/>
              </a:lnSpc>
              <a:spcBef>
                <a:spcPts val="1200"/>
              </a:spcBef>
              <a:spcAft>
                <a:spcPts val="0"/>
              </a:spcAft>
              <a:buSzPts val="688"/>
              <a:buNone/>
            </a:pPr>
            <a:r>
              <a:rPr lang="en" sz="1225">
                <a:latin typeface="Times New Roman"/>
                <a:ea typeface="Times New Roman"/>
                <a:cs typeface="Times New Roman"/>
                <a:sym typeface="Times New Roman"/>
              </a:rPr>
              <a:t> Rebalance category distributions during data augmentation to prevent prediction bias toward dominant classes (Car) over sparse classes (Pedestrian, Cyclist).</a:t>
            </a:r>
            <a:endParaRPr sz="1225">
              <a:latin typeface="Times New Roman"/>
              <a:ea typeface="Times New Roman"/>
              <a:cs typeface="Times New Roman"/>
              <a:sym typeface="Times New Roman"/>
            </a:endParaRPr>
          </a:p>
          <a:p>
            <a:pPr indent="-228600" lvl="0" marL="457200" rtl="0" algn="just">
              <a:lnSpc>
                <a:spcPct val="115000"/>
              </a:lnSpc>
              <a:spcBef>
                <a:spcPts val="1200"/>
              </a:spcBef>
              <a:spcAft>
                <a:spcPts val="0"/>
              </a:spcAft>
              <a:buSzPts val="688"/>
              <a:buNone/>
            </a:pPr>
            <a:r>
              <a:rPr lang="en" sz="1225">
                <a:latin typeface="Times New Roman"/>
                <a:ea typeface="Times New Roman"/>
                <a:cs typeface="Times New Roman"/>
                <a:sym typeface="Times New Roman"/>
              </a:rPr>
              <a:t>●</a:t>
            </a:r>
            <a:r>
              <a:rPr lang="en" sz="1038">
                <a:latin typeface="Times New Roman"/>
                <a:ea typeface="Times New Roman"/>
                <a:cs typeface="Times New Roman"/>
                <a:sym typeface="Times New Roman"/>
              </a:rPr>
              <a:t>       </a:t>
            </a:r>
            <a:r>
              <a:rPr b="1" lang="en" sz="1225">
                <a:latin typeface="Times New Roman"/>
                <a:ea typeface="Times New Roman"/>
                <a:cs typeface="Times New Roman"/>
                <a:sym typeface="Times New Roman"/>
              </a:rPr>
              <a:t>Objective 4</a:t>
            </a:r>
            <a:r>
              <a:rPr lang="en" sz="1225">
                <a:latin typeface="Times New Roman"/>
                <a:ea typeface="Times New Roman"/>
                <a:cs typeface="Times New Roman"/>
                <a:sym typeface="Times New Roman"/>
              </a:rPr>
              <a:t>:</a:t>
            </a:r>
            <a:endParaRPr sz="1225">
              <a:latin typeface="Times New Roman"/>
              <a:ea typeface="Times New Roman"/>
              <a:cs typeface="Times New Roman"/>
              <a:sym typeface="Times New Roman"/>
            </a:endParaRPr>
          </a:p>
          <a:p>
            <a:pPr indent="0" lvl="0" marL="457200" rtl="0" algn="just">
              <a:lnSpc>
                <a:spcPct val="115000"/>
              </a:lnSpc>
              <a:spcBef>
                <a:spcPts val="1200"/>
              </a:spcBef>
              <a:spcAft>
                <a:spcPts val="1200"/>
              </a:spcAft>
              <a:buSzPts val="688"/>
              <a:buNone/>
            </a:pPr>
            <a:r>
              <a:rPr lang="en" sz="1225">
                <a:latin typeface="Times New Roman"/>
                <a:ea typeface="Times New Roman"/>
                <a:cs typeface="Times New Roman"/>
                <a:sym typeface="Times New Roman"/>
              </a:rPr>
              <a:t>Train, adapt, and evaluate a SECOND 3D detector on a memory-constrained GPU (NVIDIA Quadro K2200 4GB, CUDA 12.2) using custom spatial voxel bounds and gradient accumulation mechanics.</a:t>
            </a:r>
            <a:endParaRPr sz="1225">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4"/>
          <p:cNvSpPr txBox="1"/>
          <p:nvPr>
            <p:ph type="title"/>
          </p:nvPr>
        </p:nvSpPr>
        <p:spPr>
          <a:xfrm>
            <a:off x="819150" y="865478"/>
            <a:ext cx="7505700" cy="954600"/>
          </a:xfrm>
          <a:prstGeom prst="rect">
            <a:avLst/>
          </a:prstGeom>
          <a:noFill/>
          <a:ln>
            <a:noFill/>
          </a:ln>
        </p:spPr>
        <p:txBody>
          <a:bodyPr anchorCtr="0" anchor="t" bIns="68575" lIns="68575" spcFirstLastPara="1" rIns="68575" wrap="square" tIns="68575">
            <a:noAutofit/>
          </a:bodyPr>
          <a:lstStyle/>
          <a:p>
            <a:pPr indent="0" lvl="0" marL="0" rtl="0" algn="l">
              <a:lnSpc>
                <a:spcPct val="90000"/>
              </a:lnSpc>
              <a:spcBef>
                <a:spcPts val="0"/>
              </a:spcBef>
              <a:spcAft>
                <a:spcPts val="0"/>
              </a:spcAft>
              <a:buClr>
                <a:schemeClr val="dk1"/>
              </a:buClr>
              <a:buSzPts val="2300"/>
              <a:buFont typeface="Times New Roman"/>
              <a:buNone/>
            </a:pPr>
            <a:r>
              <a:rPr b="1" lang="en" sz="600">
                <a:latin typeface="Times New Roman"/>
                <a:ea typeface="Times New Roman"/>
                <a:cs typeface="Times New Roman"/>
                <a:sym typeface="Times New Roman"/>
              </a:rPr>
              <a:t>.</a:t>
            </a:r>
            <a:endParaRPr sz="600">
              <a:latin typeface="Times New Roman"/>
              <a:ea typeface="Times New Roman"/>
              <a:cs typeface="Times New Roman"/>
              <a:sym typeface="Times New Roman"/>
            </a:endParaRPr>
          </a:p>
        </p:txBody>
      </p:sp>
      <p:sp>
        <p:nvSpPr>
          <p:cNvPr id="188" name="Google Shape;188;p34"/>
          <p:cNvSpPr txBox="1"/>
          <p:nvPr>
            <p:ph idx="1" type="body"/>
          </p:nvPr>
        </p:nvSpPr>
        <p:spPr>
          <a:xfrm>
            <a:off x="743778" y="1463952"/>
            <a:ext cx="7505700" cy="2448000"/>
          </a:xfrm>
          <a:prstGeom prst="rect">
            <a:avLst/>
          </a:prstGeom>
          <a:noFill/>
          <a:ln>
            <a:noFill/>
          </a:ln>
        </p:spPr>
        <p:txBody>
          <a:bodyPr anchorCtr="0" anchor="t" bIns="68575" lIns="68575" spcFirstLastPara="1" rIns="68575" wrap="square" tIns="68575">
            <a:noAutofit/>
          </a:bodyPr>
          <a:lstStyle/>
          <a:p>
            <a:pPr indent="-254000" lvl="0" marL="457200" rtl="0" algn="l">
              <a:lnSpc>
                <a:spcPct val="90000"/>
              </a:lnSpc>
              <a:spcBef>
                <a:spcPts val="0"/>
              </a:spcBef>
              <a:spcAft>
                <a:spcPts val="0"/>
              </a:spcAft>
              <a:buClr>
                <a:schemeClr val="dk1"/>
              </a:buClr>
              <a:buSzPts val="1000"/>
              <a:buNone/>
            </a:pPr>
            <a:r>
              <a:t/>
            </a:r>
            <a:endParaRPr sz="1200">
              <a:latin typeface="Times New Roman"/>
              <a:ea typeface="Times New Roman"/>
              <a:cs typeface="Times New Roman"/>
              <a:sym typeface="Times New Roman"/>
            </a:endParaRPr>
          </a:p>
          <a:p>
            <a:pPr indent="0" lvl="0" marL="139700" rtl="0" algn="l">
              <a:lnSpc>
                <a:spcPct val="90000"/>
              </a:lnSpc>
              <a:spcBef>
                <a:spcPts val="0"/>
              </a:spcBef>
              <a:spcAft>
                <a:spcPts val="0"/>
              </a:spcAft>
              <a:buClr>
                <a:schemeClr val="dk1"/>
              </a:buClr>
              <a:buSzPts val="1000"/>
              <a:buNone/>
            </a:pPr>
            <a:r>
              <a:rPr lang="en"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p>
            <a:pPr indent="-254000" lvl="0" marL="457200" rtl="0" algn="l">
              <a:lnSpc>
                <a:spcPct val="90000"/>
              </a:lnSpc>
              <a:spcBef>
                <a:spcPts val="0"/>
              </a:spcBef>
              <a:spcAft>
                <a:spcPts val="0"/>
              </a:spcAft>
              <a:buClr>
                <a:schemeClr val="dk1"/>
              </a:buClr>
              <a:buSzPts val="1000"/>
              <a:buNone/>
            </a:pPr>
            <a:r>
              <a:t/>
            </a:r>
            <a:endParaRPr sz="1200">
              <a:latin typeface="Times New Roman"/>
              <a:ea typeface="Times New Roman"/>
              <a:cs typeface="Times New Roman"/>
              <a:sym typeface="Times New Roman"/>
            </a:endParaRPr>
          </a:p>
        </p:txBody>
      </p:sp>
      <p:pic>
        <p:nvPicPr>
          <p:cNvPr id="189" name="Google Shape;189;p34"/>
          <p:cNvPicPr preferRelativeResize="0"/>
          <p:nvPr/>
        </p:nvPicPr>
        <p:blipFill rotWithShape="1">
          <a:blip r:embed="rId3">
            <a:alphaModFix/>
          </a:blip>
          <a:srcRect b="0" l="7594" r="6789" t="0"/>
          <a:stretch/>
        </p:blipFill>
        <p:spPr>
          <a:xfrm>
            <a:off x="0" y="0"/>
            <a:ext cx="9144001"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5"/>
          <p:cNvSpPr txBox="1"/>
          <p:nvPr>
            <p:ph type="title"/>
          </p:nvPr>
        </p:nvSpPr>
        <p:spPr>
          <a:xfrm>
            <a:off x="728999" y="-139950"/>
            <a:ext cx="7505700" cy="5685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Clr>
                <a:schemeClr val="dk1"/>
              </a:buClr>
              <a:buSzPts val="2300"/>
              <a:buFont typeface="Times New Roman"/>
              <a:buNone/>
            </a:pPr>
            <a:r>
              <a:rPr lang="en">
                <a:latin typeface="Times New Roman"/>
                <a:ea typeface="Times New Roman"/>
                <a:cs typeface="Times New Roman"/>
                <a:sym typeface="Times New Roman"/>
              </a:rPr>
              <a:t>Results</a:t>
            </a:r>
            <a:endParaRPr>
              <a:latin typeface="Times New Roman"/>
              <a:ea typeface="Times New Roman"/>
              <a:cs typeface="Times New Roman"/>
              <a:sym typeface="Times New Roman"/>
            </a:endParaRPr>
          </a:p>
        </p:txBody>
      </p:sp>
      <p:sp>
        <p:nvSpPr>
          <p:cNvPr id="195" name="Google Shape;195;p35"/>
          <p:cNvSpPr txBox="1"/>
          <p:nvPr>
            <p:ph idx="1" type="body"/>
          </p:nvPr>
        </p:nvSpPr>
        <p:spPr>
          <a:xfrm>
            <a:off x="819149" y="1185530"/>
            <a:ext cx="7325400" cy="34131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1200"/>
              </a:spcBef>
              <a:spcAft>
                <a:spcPts val="1200"/>
              </a:spcAft>
              <a:buClr>
                <a:schemeClr val="dk1"/>
              </a:buClr>
              <a:buSzPts val="1000"/>
              <a:buNone/>
            </a:pPr>
            <a:r>
              <a:rPr lang="en" sz="100"/>
              <a:t>.</a:t>
            </a:r>
            <a:endParaRPr sz="100"/>
          </a:p>
        </p:txBody>
      </p:sp>
      <p:graphicFrame>
        <p:nvGraphicFramePr>
          <p:cNvPr id="196" name="Google Shape;196;p35"/>
          <p:cNvGraphicFramePr/>
          <p:nvPr/>
        </p:nvGraphicFramePr>
        <p:xfrm>
          <a:off x="0" y="428550"/>
          <a:ext cx="3000000" cy="3000000"/>
        </p:xfrm>
        <a:graphic>
          <a:graphicData uri="http://schemas.openxmlformats.org/drawingml/2006/table">
            <a:tbl>
              <a:tblPr>
                <a:noFill/>
                <a:tableStyleId>{C5E136EF-3C0E-4DC1-B060-A46EE87DC9C4}</a:tableStyleId>
              </a:tblPr>
              <a:tblGrid>
                <a:gridCol w="2527850"/>
                <a:gridCol w="2184600"/>
                <a:gridCol w="2387400"/>
                <a:gridCol w="2044150"/>
              </a:tblGrid>
              <a:tr h="728675">
                <a:tc>
                  <a:txBody>
                    <a:bodyPr/>
                    <a:lstStyle/>
                    <a:p>
                      <a:pPr indent="0" lvl="0" marL="0" rtl="0" algn="ctr">
                        <a:lnSpc>
                          <a:spcPct val="115000"/>
                        </a:lnSpc>
                        <a:spcBef>
                          <a:spcPts val="0"/>
                        </a:spcBef>
                        <a:spcAft>
                          <a:spcPts val="2400"/>
                        </a:spcAft>
                        <a:buNone/>
                      </a:pPr>
                      <a:r>
                        <a:rPr b="1" lang="en" sz="1000">
                          <a:latin typeface="Times New Roman"/>
                          <a:ea typeface="Times New Roman"/>
                          <a:cs typeface="Times New Roman"/>
                          <a:sym typeface="Times New Roman"/>
                        </a:rPr>
                        <a:t>Weather Condition</a:t>
                      </a:r>
                      <a:endParaRPr b="1"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2400"/>
                        </a:spcAft>
                        <a:buNone/>
                      </a:pPr>
                      <a:r>
                        <a:rPr b="1" lang="en" sz="1000">
                          <a:latin typeface="Times New Roman"/>
                          <a:ea typeface="Times New Roman"/>
                          <a:cs typeface="Times New Roman"/>
                          <a:sym typeface="Times New Roman"/>
                        </a:rPr>
                        <a:t>Baseline Model (AP3D​ Moderate Car)</a:t>
                      </a:r>
                      <a:endParaRPr b="1"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2400"/>
                        </a:spcAft>
                        <a:buNone/>
                      </a:pPr>
                      <a:r>
                        <a:rPr b="1" lang="en" sz="1000">
                          <a:latin typeface="Times New Roman"/>
                          <a:ea typeface="Times New Roman"/>
                          <a:cs typeface="Times New Roman"/>
                          <a:sym typeface="Times New Roman"/>
                        </a:rPr>
                        <a:t>Augmented Model (AP3D​ Moderate Car)</a:t>
                      </a:r>
                      <a:endParaRPr b="1"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2400"/>
                        </a:spcAft>
                        <a:buNone/>
                      </a:pPr>
                      <a:r>
                        <a:rPr b="1" lang="en" sz="1000">
                          <a:latin typeface="Times New Roman"/>
                          <a:ea typeface="Times New Roman"/>
                          <a:cs typeface="Times New Roman"/>
                          <a:sym typeface="Times New Roman"/>
                        </a:rPr>
                        <a:t>Performance Gain</a:t>
                      </a:r>
                      <a:endParaRPr b="1"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r h="572525">
                <a:tc>
                  <a:txBody>
                    <a:bodyPr/>
                    <a:lstStyle/>
                    <a:p>
                      <a:pPr indent="0" lvl="0" marL="0" rtl="0" algn="ctr">
                        <a:lnSpc>
                          <a:spcPct val="115000"/>
                        </a:lnSpc>
                        <a:spcBef>
                          <a:spcPts val="0"/>
                        </a:spcBef>
                        <a:spcAft>
                          <a:spcPts val="2400"/>
                        </a:spcAft>
                        <a:buNone/>
                      </a:pPr>
                      <a:r>
                        <a:rPr b="1" lang="en" sz="1000">
                          <a:latin typeface="Times New Roman"/>
                          <a:ea typeface="Times New Roman"/>
                          <a:cs typeface="Times New Roman"/>
                          <a:sym typeface="Times New Roman"/>
                        </a:rPr>
                        <a:t>Clear Weather</a:t>
                      </a:r>
                      <a:endParaRPr b="1"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2400"/>
                        </a:spcAft>
                        <a:buNone/>
                      </a:pPr>
                      <a:r>
                        <a:rPr lang="en" sz="1000">
                          <a:latin typeface="Times New Roman"/>
                          <a:ea typeface="Times New Roman"/>
                          <a:cs typeface="Times New Roman"/>
                          <a:sym typeface="Times New Roman"/>
                        </a:rPr>
                        <a:t>78.20%</a:t>
                      </a:r>
                      <a:endParaRPr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2400"/>
                        </a:spcAft>
                        <a:buNone/>
                      </a:pPr>
                      <a:r>
                        <a:rPr lang="en" sz="1000">
                          <a:latin typeface="Times New Roman"/>
                          <a:ea typeface="Times New Roman"/>
                          <a:cs typeface="Times New Roman"/>
                          <a:sym typeface="Times New Roman"/>
                        </a:rPr>
                        <a:t>77.85%</a:t>
                      </a:r>
                      <a:endParaRPr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2400"/>
                        </a:spcAft>
                        <a:buNone/>
                      </a:pPr>
                      <a:r>
                        <a:rPr lang="en" sz="1000">
                          <a:latin typeface="Times New Roman"/>
                          <a:ea typeface="Times New Roman"/>
                          <a:cs typeface="Times New Roman"/>
                          <a:sym typeface="Times New Roman"/>
                        </a:rPr>
                        <a:t>-0.35%</a:t>
                      </a:r>
                      <a:endParaRPr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r h="572525">
                <a:tc>
                  <a:txBody>
                    <a:bodyPr/>
                    <a:lstStyle/>
                    <a:p>
                      <a:pPr indent="0" lvl="0" marL="0" rtl="0" algn="ctr">
                        <a:lnSpc>
                          <a:spcPct val="115000"/>
                        </a:lnSpc>
                        <a:spcBef>
                          <a:spcPts val="0"/>
                        </a:spcBef>
                        <a:spcAft>
                          <a:spcPts val="2400"/>
                        </a:spcAft>
                        <a:buNone/>
                      </a:pPr>
                      <a:r>
                        <a:rPr b="1" lang="en" sz="1000">
                          <a:latin typeface="Times New Roman"/>
                          <a:ea typeface="Times New Roman"/>
                          <a:cs typeface="Times New Roman"/>
                          <a:sym typeface="Times New Roman"/>
                        </a:rPr>
                        <a:t>Moderate Fog                (α=0.02)</a:t>
                      </a:r>
                      <a:endParaRPr b="1"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2400"/>
                        </a:spcAft>
                        <a:buNone/>
                      </a:pPr>
                      <a:r>
                        <a:rPr lang="en" sz="1000">
                          <a:latin typeface="Times New Roman"/>
                          <a:ea typeface="Times New Roman"/>
                          <a:cs typeface="Times New Roman"/>
                          <a:sym typeface="Times New Roman"/>
                        </a:rPr>
                        <a:t>42.10%</a:t>
                      </a:r>
                      <a:endParaRPr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2400"/>
                        </a:spcAft>
                        <a:buNone/>
                      </a:pPr>
                      <a:r>
                        <a:rPr lang="en" sz="1000">
                          <a:latin typeface="Times New Roman"/>
                          <a:ea typeface="Times New Roman"/>
                          <a:cs typeface="Times New Roman"/>
                          <a:sym typeface="Times New Roman"/>
                        </a:rPr>
                        <a:t>68.40%</a:t>
                      </a:r>
                      <a:endParaRPr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2400"/>
                        </a:spcAft>
                        <a:buNone/>
                      </a:pPr>
                      <a:r>
                        <a:rPr lang="en" sz="1000">
                          <a:latin typeface="Times New Roman"/>
                          <a:ea typeface="Times New Roman"/>
                          <a:cs typeface="Times New Roman"/>
                          <a:sym typeface="Times New Roman"/>
                        </a:rPr>
                        <a:t>+26.300%</a:t>
                      </a:r>
                      <a:endParaRPr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r h="572525">
                <a:tc>
                  <a:txBody>
                    <a:bodyPr/>
                    <a:lstStyle/>
                    <a:p>
                      <a:pPr indent="0" lvl="0" marL="0" rtl="0" algn="ctr">
                        <a:lnSpc>
                          <a:spcPct val="115000"/>
                        </a:lnSpc>
                        <a:spcBef>
                          <a:spcPts val="0"/>
                        </a:spcBef>
                        <a:spcAft>
                          <a:spcPts val="2400"/>
                        </a:spcAft>
                        <a:buNone/>
                      </a:pPr>
                      <a:r>
                        <a:rPr b="1" lang="en" sz="1000">
                          <a:latin typeface="Times New Roman"/>
                          <a:ea typeface="Times New Roman"/>
                          <a:cs typeface="Times New Roman"/>
                          <a:sym typeface="Times New Roman"/>
                        </a:rPr>
                        <a:t>Heavy Rain (50mm/h)</a:t>
                      </a:r>
                      <a:endParaRPr b="1"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2400"/>
                        </a:spcAft>
                        <a:buNone/>
                      </a:pPr>
                      <a:r>
                        <a:rPr lang="en" sz="1000">
                          <a:latin typeface="Times New Roman"/>
                          <a:ea typeface="Times New Roman"/>
                          <a:cs typeface="Times New Roman"/>
                          <a:sym typeface="Times New Roman"/>
                        </a:rPr>
                        <a:t>51.30%</a:t>
                      </a:r>
                      <a:endParaRPr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2400"/>
                        </a:spcAft>
                        <a:buNone/>
                      </a:pPr>
                      <a:r>
                        <a:rPr lang="en" sz="1000">
                          <a:latin typeface="Times New Roman"/>
                          <a:ea typeface="Times New Roman"/>
                          <a:cs typeface="Times New Roman"/>
                          <a:sym typeface="Times New Roman"/>
                        </a:rPr>
                        <a:t>70.10%</a:t>
                      </a:r>
                      <a:endParaRPr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2400"/>
                        </a:spcAft>
                        <a:buNone/>
                      </a:pPr>
                      <a:r>
                        <a:rPr lang="en" sz="1000">
                          <a:latin typeface="Times New Roman"/>
                          <a:ea typeface="Times New Roman"/>
                          <a:cs typeface="Times New Roman"/>
                          <a:sym typeface="Times New Roman"/>
                        </a:rPr>
                        <a:t>+18.80%</a:t>
                      </a:r>
                      <a:endParaRPr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r h="572525">
                <a:tc>
                  <a:txBody>
                    <a:bodyPr/>
                    <a:lstStyle/>
                    <a:p>
                      <a:pPr indent="0" lvl="0" marL="0" rtl="0" algn="ctr">
                        <a:lnSpc>
                          <a:spcPct val="115000"/>
                        </a:lnSpc>
                        <a:spcBef>
                          <a:spcPts val="0"/>
                        </a:spcBef>
                        <a:spcAft>
                          <a:spcPts val="2400"/>
                        </a:spcAft>
                        <a:buNone/>
                      </a:pPr>
                      <a:r>
                        <a:rPr b="1" lang="en" sz="1000">
                          <a:latin typeface="Times New Roman"/>
                          <a:ea typeface="Times New Roman"/>
                          <a:cs typeface="Times New Roman"/>
                          <a:sym typeface="Times New Roman"/>
                        </a:rPr>
                        <a:t>Snowfall Interference</a:t>
                      </a:r>
                      <a:endParaRPr b="1"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2400"/>
                        </a:spcAft>
                        <a:buNone/>
                      </a:pPr>
                      <a:r>
                        <a:rPr lang="en" sz="1000">
                          <a:latin typeface="Times New Roman"/>
                          <a:ea typeface="Times New Roman"/>
                          <a:cs typeface="Times New Roman"/>
                          <a:sym typeface="Times New Roman"/>
                        </a:rPr>
                        <a:t>46.80%</a:t>
                      </a:r>
                      <a:endParaRPr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2400"/>
                        </a:spcAft>
                        <a:buNone/>
                      </a:pPr>
                      <a:r>
                        <a:rPr lang="en" sz="1000">
                          <a:latin typeface="Times New Roman"/>
                          <a:ea typeface="Times New Roman"/>
                          <a:cs typeface="Times New Roman"/>
                          <a:sym typeface="Times New Roman"/>
                        </a:rPr>
                        <a:t>66.90%</a:t>
                      </a:r>
                      <a:endParaRPr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2400"/>
                        </a:spcAft>
                        <a:buNone/>
                      </a:pPr>
                      <a:r>
                        <a:rPr lang="en" sz="1000">
                          <a:latin typeface="Times New Roman"/>
                          <a:ea typeface="Times New Roman"/>
                          <a:cs typeface="Times New Roman"/>
                          <a:sym typeface="Times New Roman"/>
                        </a:rPr>
                        <a:t>+20.10%</a:t>
                      </a:r>
                      <a:endParaRPr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r h="572525">
                <a:tc>
                  <a:txBody>
                    <a:bodyPr/>
                    <a:lstStyle/>
                    <a:p>
                      <a:pPr indent="0" lvl="0" marL="0" rtl="0" algn="ctr">
                        <a:lnSpc>
                          <a:spcPct val="115000"/>
                        </a:lnSpc>
                        <a:spcBef>
                          <a:spcPts val="0"/>
                        </a:spcBef>
                        <a:spcAft>
                          <a:spcPts val="2400"/>
                        </a:spcAft>
                        <a:buNone/>
                      </a:pPr>
                      <a:r>
                        <a:rPr b="1" lang="en" sz="1000">
                          <a:latin typeface="Times New Roman"/>
                          <a:ea typeface="Times New Roman"/>
                          <a:cs typeface="Times New Roman"/>
                          <a:sym typeface="Times New Roman"/>
                        </a:rPr>
                        <a:t>Smoke / Aerosol Noise</a:t>
                      </a:r>
                      <a:endParaRPr b="1"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2400"/>
                        </a:spcAft>
                        <a:buNone/>
                      </a:pPr>
                      <a:r>
                        <a:rPr lang="en" sz="1000">
                          <a:latin typeface="Times New Roman"/>
                          <a:ea typeface="Times New Roman"/>
                          <a:cs typeface="Times New Roman"/>
                          <a:sym typeface="Times New Roman"/>
                        </a:rPr>
                        <a:t>39.50%</a:t>
                      </a:r>
                      <a:endParaRPr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2400"/>
                        </a:spcAft>
                        <a:buNone/>
                      </a:pPr>
                      <a:r>
                        <a:rPr lang="en" sz="1000">
                          <a:latin typeface="Times New Roman"/>
                          <a:ea typeface="Times New Roman"/>
                          <a:cs typeface="Times New Roman"/>
                          <a:sym typeface="Times New Roman"/>
                        </a:rPr>
                        <a:t>63.20%</a:t>
                      </a:r>
                      <a:endParaRPr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2400"/>
                        </a:spcAft>
                        <a:buNone/>
                      </a:pPr>
                      <a:r>
                        <a:rPr lang="en" sz="1000">
                          <a:latin typeface="Times New Roman"/>
                          <a:ea typeface="Times New Roman"/>
                          <a:cs typeface="Times New Roman"/>
                          <a:sym typeface="Times New Roman"/>
                        </a:rPr>
                        <a:t>+23.70%</a:t>
                      </a:r>
                      <a:endParaRPr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r h="572525">
                <a:tc>
                  <a:txBody>
                    <a:bodyPr/>
                    <a:lstStyle/>
                    <a:p>
                      <a:pPr indent="0" lvl="0" marL="0" rtl="0" algn="ctr">
                        <a:lnSpc>
                          <a:spcPct val="115000"/>
                        </a:lnSpc>
                        <a:spcBef>
                          <a:spcPts val="0"/>
                        </a:spcBef>
                        <a:spcAft>
                          <a:spcPts val="2400"/>
                        </a:spcAft>
                        <a:buNone/>
                      </a:pPr>
                      <a:r>
                        <a:rPr b="1" lang="en" sz="1000">
                          <a:latin typeface="Times New Roman"/>
                          <a:ea typeface="Times New Roman"/>
                          <a:cs typeface="Times New Roman"/>
                          <a:sym typeface="Times New Roman"/>
                        </a:rPr>
                        <a:t>Wet Road Spray</a:t>
                      </a:r>
                      <a:endParaRPr b="1"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2400"/>
                        </a:spcAft>
                        <a:buNone/>
                      </a:pPr>
                      <a:r>
                        <a:rPr lang="en" sz="1000">
                          <a:latin typeface="Times New Roman"/>
                          <a:ea typeface="Times New Roman"/>
                          <a:cs typeface="Times New Roman"/>
                          <a:sym typeface="Times New Roman"/>
                        </a:rPr>
                        <a:t>58.40%</a:t>
                      </a:r>
                      <a:endParaRPr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2400"/>
                        </a:spcAft>
                        <a:buNone/>
                      </a:pPr>
                      <a:r>
                        <a:rPr lang="en" sz="1000">
                          <a:latin typeface="Times New Roman"/>
                          <a:ea typeface="Times New Roman"/>
                          <a:cs typeface="Times New Roman"/>
                          <a:sym typeface="Times New Roman"/>
                        </a:rPr>
                        <a:t>72.60%</a:t>
                      </a:r>
                      <a:endParaRPr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2400"/>
                        </a:spcAft>
                        <a:buNone/>
                      </a:pPr>
                      <a:r>
                        <a:rPr lang="en" sz="1000">
                          <a:latin typeface="Times New Roman"/>
                          <a:ea typeface="Times New Roman"/>
                          <a:cs typeface="Times New Roman"/>
                          <a:sym typeface="Times New Roman"/>
                        </a:rPr>
                        <a:t>+14.20%</a:t>
                      </a:r>
                      <a:endParaRPr sz="1000">
                        <a:latin typeface="Times New Roman"/>
                        <a:ea typeface="Times New Roman"/>
                        <a:cs typeface="Times New Roman"/>
                        <a:sym typeface="Times New Roman"/>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bl>
          </a:graphicData>
        </a:graphic>
      </p:graphicFrame>
      <p:sp>
        <p:nvSpPr>
          <p:cNvPr id="197" name="Google Shape;197;p35"/>
          <p:cNvSpPr txBox="1"/>
          <p:nvPr/>
        </p:nvSpPr>
        <p:spPr>
          <a:xfrm>
            <a:off x="6144000" y="1505325"/>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785"/>
              </a:spcBef>
              <a:spcAft>
                <a:spcPts val="0"/>
              </a:spcAft>
              <a:buNone/>
            </a:pPr>
            <a:r>
              <a:rPr b="1" lang="en" sz="100">
                <a:latin typeface="Times New Roman"/>
                <a:ea typeface="Times New Roman"/>
                <a:cs typeface="Times New Roman"/>
                <a:sym typeface="Times New Roman"/>
              </a:rPr>
              <a:t>.</a:t>
            </a:r>
            <a:endParaRPr b="1" sz="1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6"/>
          <p:cNvSpPr txBox="1"/>
          <p:nvPr>
            <p:ph type="title"/>
          </p:nvPr>
        </p:nvSpPr>
        <p:spPr>
          <a:xfrm>
            <a:off x="819150" y="3"/>
            <a:ext cx="7505700" cy="467100"/>
          </a:xfrm>
          <a:prstGeom prst="rect">
            <a:avLst/>
          </a:prstGeom>
          <a:noFill/>
          <a:ln>
            <a:noFill/>
          </a:ln>
        </p:spPr>
        <p:txBody>
          <a:bodyPr anchorCtr="0" anchor="t" bIns="68575" lIns="68575" spcFirstLastPara="1" rIns="68575" wrap="square" tIns="68575">
            <a:normAutofit fontScale="90000"/>
          </a:bodyPr>
          <a:lstStyle/>
          <a:p>
            <a:pPr indent="0" lvl="0" marL="0" rtl="0" algn="ctr">
              <a:lnSpc>
                <a:spcPct val="90000"/>
              </a:lnSpc>
              <a:spcBef>
                <a:spcPts val="0"/>
              </a:spcBef>
              <a:spcAft>
                <a:spcPts val="0"/>
              </a:spcAft>
              <a:buClr>
                <a:schemeClr val="dk1"/>
              </a:buClr>
              <a:buSzPct val="83333"/>
              <a:buFont typeface="Times New Roman"/>
              <a:buNone/>
            </a:pPr>
            <a:r>
              <a:rPr lang="en">
                <a:latin typeface="Times New Roman"/>
                <a:ea typeface="Times New Roman"/>
                <a:cs typeface="Times New Roman"/>
                <a:sym typeface="Times New Roman"/>
              </a:rPr>
              <a:t>Reference</a:t>
            </a:r>
            <a:endParaRPr/>
          </a:p>
        </p:txBody>
      </p:sp>
      <p:sp>
        <p:nvSpPr>
          <p:cNvPr id="203" name="Google Shape;203;p36"/>
          <p:cNvSpPr txBox="1"/>
          <p:nvPr>
            <p:ph idx="1" type="body"/>
          </p:nvPr>
        </p:nvSpPr>
        <p:spPr>
          <a:xfrm>
            <a:off x="606275" y="552850"/>
            <a:ext cx="7718700" cy="4590600"/>
          </a:xfrm>
          <a:prstGeom prst="rect">
            <a:avLst/>
          </a:prstGeom>
          <a:noFill/>
          <a:ln>
            <a:noFill/>
          </a:ln>
        </p:spPr>
        <p:txBody>
          <a:bodyPr anchorCtr="0" anchor="ctr" bIns="34275" lIns="68575" spcFirstLastPara="1" rIns="68575" wrap="square" tIns="34275">
            <a:normAutofit lnSpcReduction="10000"/>
          </a:bodyPr>
          <a:lstStyle/>
          <a:p>
            <a:pPr indent="-317500" lvl="0" marL="457200" rtl="0" algn="l">
              <a:lnSpc>
                <a:spcPct val="100000"/>
              </a:lnSpc>
              <a:spcBef>
                <a:spcPts val="0"/>
              </a:spcBef>
              <a:spcAft>
                <a:spcPts val="0"/>
              </a:spcAft>
              <a:buSzPts val="1000"/>
              <a:buFont typeface="Times New Roman"/>
              <a:buAutoNum type="arabicPeriod"/>
            </a:pPr>
            <a:r>
              <a:rPr lang="en" sz="1000">
                <a:latin typeface="Times New Roman"/>
                <a:ea typeface="Times New Roman"/>
                <a:cs typeface="Times New Roman"/>
                <a:sym typeface="Times New Roman"/>
              </a:rPr>
              <a:t>M. Hähner, C. Sakaridis, D. Dai, and L. Van Gool, “Fog simulation on real lidar point clouds for 3d object detection in adverse weather,” IEEE Transactions on Intelligent Transportation Systems, 2023. </a:t>
            </a:r>
            <a:endParaRPr sz="1000">
              <a:latin typeface="Times New Roman"/>
              <a:ea typeface="Times New Roman"/>
              <a:cs typeface="Times New Roman"/>
              <a:sym typeface="Times New Roman"/>
            </a:endParaRPr>
          </a:p>
          <a:p>
            <a:pPr indent="0" lvl="0" marL="346075" rtl="0" algn="l">
              <a:lnSpc>
                <a:spcPct val="100000"/>
              </a:lnSpc>
              <a:spcBef>
                <a:spcPts val="0"/>
              </a:spcBef>
              <a:spcAft>
                <a:spcPts val="0"/>
              </a:spcAft>
              <a:buNone/>
            </a:pPr>
            <a:r>
              <a:t/>
            </a:r>
            <a:endParaRPr sz="1000">
              <a:latin typeface="Times New Roman"/>
              <a:ea typeface="Times New Roman"/>
              <a:cs typeface="Times New Roman"/>
              <a:sym typeface="Times New Roman"/>
            </a:endParaRPr>
          </a:p>
          <a:p>
            <a:pPr indent="-317500" lvl="0" marL="457200" rtl="0" algn="l">
              <a:lnSpc>
                <a:spcPct val="100000"/>
              </a:lnSpc>
              <a:spcBef>
                <a:spcPts val="0"/>
              </a:spcBef>
              <a:spcAft>
                <a:spcPts val="0"/>
              </a:spcAft>
              <a:buSzPts val="1000"/>
              <a:buFont typeface="Times New Roman"/>
              <a:buAutoNum type="arabicPeriod"/>
            </a:pPr>
            <a:r>
              <a:rPr lang="en" sz="1000">
                <a:latin typeface="Times New Roman"/>
                <a:ea typeface="Times New Roman"/>
                <a:cs typeface="Times New Roman"/>
                <a:sym typeface="Times New Roman"/>
              </a:rPr>
              <a:t>X. Peng, R. Li, Y. Zhang et al., “Parallel lidars meet the foggy weather: A multi-sensor approach for robust perception,” IEEE Robotics and Automation Letters, vol. 9, no. 2, pp. 1234–1241, 2024.</a:t>
            </a:r>
            <a:endParaRPr sz="1000">
              <a:latin typeface="Times New Roman"/>
              <a:ea typeface="Times New Roman"/>
              <a:cs typeface="Times New Roman"/>
              <a:sym typeface="Times New Roman"/>
            </a:endParaRPr>
          </a:p>
          <a:p>
            <a:pPr indent="0" lvl="0" marL="346075" rtl="0" algn="l">
              <a:lnSpc>
                <a:spcPct val="100000"/>
              </a:lnSpc>
              <a:spcBef>
                <a:spcPts val="0"/>
              </a:spcBef>
              <a:spcAft>
                <a:spcPts val="0"/>
              </a:spcAft>
              <a:buNone/>
            </a:pPr>
            <a:r>
              <a:t/>
            </a:r>
            <a:endParaRPr sz="1000">
              <a:latin typeface="Times New Roman"/>
              <a:ea typeface="Times New Roman"/>
              <a:cs typeface="Times New Roman"/>
              <a:sym typeface="Times New Roman"/>
            </a:endParaRPr>
          </a:p>
          <a:p>
            <a:pPr indent="-317500" lvl="0" marL="457200" rtl="0" algn="l">
              <a:lnSpc>
                <a:spcPct val="100000"/>
              </a:lnSpc>
              <a:spcBef>
                <a:spcPts val="0"/>
              </a:spcBef>
              <a:spcAft>
                <a:spcPts val="0"/>
              </a:spcAft>
              <a:buSzPts val="1000"/>
              <a:buFont typeface="Times New Roman"/>
              <a:buAutoNum type="arabicPeriod"/>
            </a:pPr>
            <a:r>
              <a:rPr lang="en" sz="1000">
                <a:latin typeface="Times New Roman"/>
                <a:ea typeface="Times New Roman"/>
                <a:cs typeface="Times New Roman"/>
                <a:sym typeface="Times New Roman"/>
              </a:rPr>
              <a:t>M. M. Hnewa and H. Radha, “Object detection in adverse weather using synthetic data augmentation,” IEEE Transactions on Intelligent Transportation Systems, vol. 22, no. 7, pp. 4484–4495, 2021. </a:t>
            </a:r>
            <a:endParaRPr sz="1000">
              <a:latin typeface="Times New Roman"/>
              <a:ea typeface="Times New Roman"/>
              <a:cs typeface="Times New Roman"/>
              <a:sym typeface="Times New Roman"/>
            </a:endParaRPr>
          </a:p>
          <a:p>
            <a:pPr indent="0" lvl="0" marL="346075" rtl="0" algn="l">
              <a:lnSpc>
                <a:spcPct val="100000"/>
              </a:lnSpc>
              <a:spcBef>
                <a:spcPts val="0"/>
              </a:spcBef>
              <a:spcAft>
                <a:spcPts val="0"/>
              </a:spcAft>
              <a:buNone/>
            </a:pPr>
            <a:r>
              <a:t/>
            </a:r>
            <a:endParaRPr sz="1000">
              <a:latin typeface="Times New Roman"/>
              <a:ea typeface="Times New Roman"/>
              <a:cs typeface="Times New Roman"/>
              <a:sym typeface="Times New Roman"/>
            </a:endParaRPr>
          </a:p>
          <a:p>
            <a:pPr indent="-317500" lvl="0" marL="457200" rtl="0" algn="l">
              <a:lnSpc>
                <a:spcPct val="100000"/>
              </a:lnSpc>
              <a:spcBef>
                <a:spcPts val="0"/>
              </a:spcBef>
              <a:spcAft>
                <a:spcPts val="0"/>
              </a:spcAft>
              <a:buSzPts val="1000"/>
              <a:buFont typeface="Times New Roman"/>
              <a:buAutoNum type="arabicPeriod"/>
            </a:pPr>
            <a:r>
              <a:rPr lang="en" sz="1000">
                <a:latin typeface="Times New Roman"/>
                <a:ea typeface="Times New Roman"/>
                <a:cs typeface="Times New Roman"/>
                <a:sym typeface="Times New Roman"/>
              </a:rPr>
              <a:t>A. K. Tiwari, A. Shinde, G. Sharma, M. Pattanaik and S. N. Singh, "Effect of Particle Size Distribution on LiDAR-Based 3D Object Detection Under Adverse Weather," in IEEE Transactions on Intelligent Vehicles, doi: 10.1109/TIV.2026.3733542.</a:t>
            </a:r>
            <a:endParaRPr sz="1000">
              <a:latin typeface="Times New Roman"/>
              <a:ea typeface="Times New Roman"/>
              <a:cs typeface="Times New Roman"/>
              <a:sym typeface="Times New Roman"/>
            </a:endParaRPr>
          </a:p>
          <a:p>
            <a:pPr indent="0" lvl="0" marL="346075" rtl="0" algn="l">
              <a:lnSpc>
                <a:spcPct val="100000"/>
              </a:lnSpc>
              <a:spcBef>
                <a:spcPts val="0"/>
              </a:spcBef>
              <a:spcAft>
                <a:spcPts val="0"/>
              </a:spcAft>
              <a:buNone/>
            </a:pPr>
            <a:r>
              <a:t/>
            </a:r>
            <a:endParaRPr sz="1000">
              <a:latin typeface="Times New Roman"/>
              <a:ea typeface="Times New Roman"/>
              <a:cs typeface="Times New Roman"/>
              <a:sym typeface="Times New Roman"/>
            </a:endParaRPr>
          </a:p>
          <a:p>
            <a:pPr indent="-317500" lvl="0" marL="457200" rtl="0" algn="l">
              <a:lnSpc>
                <a:spcPct val="100000"/>
              </a:lnSpc>
              <a:spcBef>
                <a:spcPts val="0"/>
              </a:spcBef>
              <a:spcAft>
                <a:spcPts val="0"/>
              </a:spcAft>
              <a:buSzPts val="1000"/>
              <a:buFont typeface="Times New Roman"/>
              <a:buAutoNum type="arabicPeriod"/>
            </a:pPr>
            <a:r>
              <a:rPr lang="en" sz="1000">
                <a:latin typeface="Times New Roman"/>
                <a:ea typeface="Times New Roman"/>
                <a:cs typeface="Times New Roman"/>
                <a:sym typeface="Times New Roman"/>
              </a:rPr>
              <a:t>M. Simon, S. Milz, K. Amende, H. M. Gross , “Complex-YOLO: An Euler-Region-Proposal for Real-time 3D Object Detection on Point Clouds”, arXiv preprint arXiv:1803.06199 (2018). </a:t>
            </a:r>
            <a:endParaRPr sz="1000">
              <a:latin typeface="Times New Roman"/>
              <a:ea typeface="Times New Roman"/>
              <a:cs typeface="Times New Roman"/>
              <a:sym typeface="Times New Roman"/>
            </a:endParaRPr>
          </a:p>
          <a:p>
            <a:pPr indent="0" lvl="0" marL="346075" rtl="0" algn="l">
              <a:lnSpc>
                <a:spcPct val="100000"/>
              </a:lnSpc>
              <a:spcBef>
                <a:spcPts val="0"/>
              </a:spcBef>
              <a:spcAft>
                <a:spcPts val="0"/>
              </a:spcAft>
              <a:buNone/>
            </a:pPr>
            <a:r>
              <a:t/>
            </a:r>
            <a:endParaRPr sz="1000">
              <a:latin typeface="Times New Roman"/>
              <a:ea typeface="Times New Roman"/>
              <a:cs typeface="Times New Roman"/>
              <a:sym typeface="Times New Roman"/>
            </a:endParaRPr>
          </a:p>
          <a:p>
            <a:pPr indent="-317500" lvl="0" marL="457200" rtl="0" algn="l">
              <a:lnSpc>
                <a:spcPct val="100000"/>
              </a:lnSpc>
              <a:spcBef>
                <a:spcPts val="0"/>
              </a:spcBef>
              <a:spcAft>
                <a:spcPts val="0"/>
              </a:spcAft>
              <a:buSzPts val="1000"/>
              <a:buFont typeface="Times New Roman"/>
              <a:buAutoNum type="arabicPeriod"/>
            </a:pPr>
            <a:r>
              <a:rPr lang="en" sz="1000">
                <a:latin typeface="Times New Roman"/>
                <a:ea typeface="Times New Roman"/>
                <a:cs typeface="Times New Roman"/>
                <a:sym typeface="Times New Roman"/>
              </a:rPr>
              <a:t>A. Shinde, G. Sharma, M. Pattanaik and S. N. Singh, “Effect of Fog Particle Size Distribution on 3D Object Detection Under Adverse Weather Conditions ”, arXiv preprint arXiv:2408.01085v1 (2024)</a:t>
            </a:r>
            <a:endParaRPr sz="1000">
              <a:latin typeface="Times New Roman"/>
              <a:ea typeface="Times New Roman"/>
              <a:cs typeface="Times New Roman"/>
              <a:sym typeface="Times New Roman"/>
            </a:endParaRPr>
          </a:p>
          <a:p>
            <a:pPr indent="0" lvl="0" marL="346075" rtl="0" algn="l">
              <a:lnSpc>
                <a:spcPct val="100000"/>
              </a:lnSpc>
              <a:spcBef>
                <a:spcPts val="0"/>
              </a:spcBef>
              <a:spcAft>
                <a:spcPts val="0"/>
              </a:spcAft>
              <a:buNone/>
            </a:pPr>
            <a:r>
              <a:t/>
            </a:r>
            <a:endParaRPr sz="1000">
              <a:latin typeface="Times New Roman"/>
              <a:ea typeface="Times New Roman"/>
              <a:cs typeface="Times New Roman"/>
              <a:sym typeface="Times New Roman"/>
            </a:endParaRPr>
          </a:p>
          <a:p>
            <a:pPr indent="-317500" lvl="0" marL="457200" rtl="0" algn="l">
              <a:lnSpc>
                <a:spcPct val="100000"/>
              </a:lnSpc>
              <a:spcBef>
                <a:spcPts val="0"/>
              </a:spcBef>
              <a:spcAft>
                <a:spcPts val="0"/>
              </a:spcAft>
              <a:buSzPts val="1000"/>
              <a:buFont typeface="Times New Roman"/>
              <a:buAutoNum type="arabicPeriod"/>
            </a:pPr>
            <a:r>
              <a:rPr lang="en" sz="1000">
                <a:latin typeface="Times New Roman"/>
                <a:ea typeface="Times New Roman"/>
                <a:cs typeface="Times New Roman"/>
                <a:sym typeface="Times New Roman"/>
              </a:rPr>
              <a:t>Yan, Y.; Mao, Y.; Li, B. “SECOND: Sparsely Embedded Convolutional Detection”, Sensors 2018, 18, 3337. https://doi.org/10.3390/s18103337 </a:t>
            </a:r>
            <a:endParaRPr sz="1000">
              <a:latin typeface="Times New Roman"/>
              <a:ea typeface="Times New Roman"/>
              <a:cs typeface="Times New Roman"/>
              <a:sym typeface="Times New Roman"/>
            </a:endParaRPr>
          </a:p>
          <a:p>
            <a:pPr indent="0" lvl="0" marL="346075" rtl="0" algn="l">
              <a:lnSpc>
                <a:spcPct val="100000"/>
              </a:lnSpc>
              <a:spcBef>
                <a:spcPts val="0"/>
              </a:spcBef>
              <a:spcAft>
                <a:spcPts val="0"/>
              </a:spcAft>
              <a:buNone/>
            </a:pPr>
            <a:r>
              <a:t/>
            </a:r>
            <a:endParaRPr sz="1000">
              <a:latin typeface="Times New Roman"/>
              <a:ea typeface="Times New Roman"/>
              <a:cs typeface="Times New Roman"/>
              <a:sym typeface="Times New Roman"/>
            </a:endParaRPr>
          </a:p>
          <a:p>
            <a:pPr indent="-317500" lvl="0" marL="457200" rtl="0" algn="l">
              <a:lnSpc>
                <a:spcPct val="100000"/>
              </a:lnSpc>
              <a:spcBef>
                <a:spcPts val="0"/>
              </a:spcBef>
              <a:spcAft>
                <a:spcPts val="0"/>
              </a:spcAft>
              <a:buSzPts val="1000"/>
              <a:buFont typeface="Times New Roman"/>
              <a:buAutoNum type="arabicPeriod"/>
            </a:pPr>
            <a:r>
              <a:rPr lang="en" sz="1000">
                <a:latin typeface="Times New Roman"/>
                <a:ea typeface="Times New Roman"/>
                <a:cs typeface="Times New Roman"/>
                <a:sym typeface="Times New Roman"/>
              </a:rPr>
              <a:t>K. </a:t>
            </a:r>
            <a:r>
              <a:rPr lang="en" sz="1000">
                <a:uFill>
                  <a:noFill/>
                </a:uFill>
                <a:latin typeface="Times New Roman"/>
                <a:ea typeface="Times New Roman"/>
                <a:cs typeface="Times New Roman"/>
                <a:sym typeface="Times New Roman"/>
                <a:hlinkClick r:id="rId3"/>
              </a:rPr>
              <a:t>Mohamed</a:t>
            </a:r>
            <a:r>
              <a:rPr lang="en" sz="1000">
                <a:latin typeface="Times New Roman"/>
                <a:ea typeface="Times New Roman"/>
                <a:cs typeface="Times New Roman"/>
                <a:sym typeface="Times New Roman"/>
              </a:rPr>
              <a:t>, M.</a:t>
            </a:r>
            <a:r>
              <a:rPr lang="en" sz="1000">
                <a:uFill>
                  <a:noFill/>
                </a:uFill>
                <a:latin typeface="Times New Roman"/>
                <a:ea typeface="Times New Roman"/>
                <a:cs typeface="Times New Roman"/>
                <a:sym typeface="Times New Roman"/>
                <a:hlinkClick r:id="rId4"/>
              </a:rPr>
              <a:t> Johannes</a:t>
            </a:r>
            <a:r>
              <a:rPr lang="en" sz="1000">
                <a:latin typeface="Times New Roman"/>
                <a:ea typeface="Times New Roman"/>
                <a:cs typeface="Times New Roman"/>
                <a:sym typeface="Times New Roman"/>
              </a:rPr>
              <a:t>,</a:t>
            </a:r>
            <a:r>
              <a:rPr lang="en" sz="1000">
                <a:uFill>
                  <a:noFill/>
                </a:uFill>
                <a:latin typeface="Times New Roman"/>
                <a:ea typeface="Times New Roman"/>
                <a:cs typeface="Times New Roman"/>
                <a:sym typeface="Times New Roman"/>
                <a:hlinkClick r:id="rId5"/>
              </a:rPr>
              <a:t> R. Christoph</a:t>
            </a:r>
            <a:r>
              <a:rPr lang="en" sz="1000">
                <a:latin typeface="Times New Roman"/>
                <a:ea typeface="Times New Roman"/>
                <a:cs typeface="Times New Roman"/>
                <a:sym typeface="Times New Roman"/>
              </a:rPr>
              <a:t>, D.</a:t>
            </a:r>
            <a:r>
              <a:rPr lang="en" sz="1000">
                <a:uFill>
                  <a:noFill/>
                </a:uFill>
                <a:latin typeface="Times New Roman"/>
                <a:ea typeface="Times New Roman"/>
                <a:cs typeface="Times New Roman"/>
                <a:sym typeface="Times New Roman"/>
                <a:hlinkClick r:id="rId6"/>
              </a:rPr>
              <a:t> Oussema</a:t>
            </a:r>
            <a:r>
              <a:rPr lang="en" sz="1000">
                <a:latin typeface="Times New Roman"/>
                <a:ea typeface="Times New Roman"/>
                <a:cs typeface="Times New Roman"/>
                <a:sym typeface="Times New Roman"/>
              </a:rPr>
              <a:t>,</a:t>
            </a:r>
            <a:r>
              <a:rPr lang="en" sz="1000">
                <a:uFill>
                  <a:noFill/>
                </a:uFill>
                <a:latin typeface="Times New Roman"/>
                <a:ea typeface="Times New Roman"/>
                <a:cs typeface="Times New Roman"/>
                <a:sym typeface="Times New Roman"/>
                <a:hlinkClick r:id="rId7"/>
              </a:rPr>
              <a:t> D. Luis</a:t>
            </a:r>
            <a:r>
              <a:rPr lang="en" sz="1000">
                <a:latin typeface="Times New Roman"/>
                <a:ea typeface="Times New Roman"/>
                <a:cs typeface="Times New Roman"/>
                <a:sym typeface="Times New Roman"/>
              </a:rPr>
              <a:t> and C.</a:t>
            </a:r>
            <a:r>
              <a:rPr lang="en" sz="1000">
                <a:uFill>
                  <a:noFill/>
                </a:uFill>
                <a:latin typeface="Times New Roman"/>
                <a:ea typeface="Times New Roman"/>
                <a:cs typeface="Times New Roman"/>
                <a:sym typeface="Times New Roman"/>
                <a:hlinkClick r:id="rId8"/>
              </a:rPr>
              <a:t> Daniel</a:t>
            </a:r>
            <a:r>
              <a:rPr lang="en" sz="1000">
                <a:latin typeface="Times New Roman"/>
                <a:ea typeface="Times New Roman"/>
                <a:cs typeface="Times New Roman"/>
                <a:sym typeface="Times New Roman"/>
              </a:rPr>
              <a:t>, “MAGneT-3D: Monocular and Domain-Generalizable Temporal 3D Detection”, , arXiv preprint arXiv:2608.14282 (2026)</a:t>
            </a:r>
            <a:endParaRPr sz="1000">
              <a:latin typeface="Times New Roman"/>
              <a:ea typeface="Times New Roman"/>
              <a:cs typeface="Times New Roman"/>
              <a:sym typeface="Times New Roman"/>
            </a:endParaRPr>
          </a:p>
          <a:p>
            <a:pPr indent="0" lvl="0" marL="346075" rtl="0" algn="l">
              <a:lnSpc>
                <a:spcPct val="100000"/>
              </a:lnSpc>
              <a:spcBef>
                <a:spcPts val="0"/>
              </a:spcBef>
              <a:spcAft>
                <a:spcPts val="0"/>
              </a:spcAft>
              <a:buNone/>
            </a:pPr>
            <a:r>
              <a:t/>
            </a:r>
            <a:endParaRPr sz="1000">
              <a:latin typeface="Times New Roman"/>
              <a:ea typeface="Times New Roman"/>
              <a:cs typeface="Times New Roman"/>
              <a:sym typeface="Times New Roman"/>
            </a:endParaRPr>
          </a:p>
          <a:p>
            <a:pPr indent="-317500" lvl="0" marL="457200" rtl="0" algn="l">
              <a:lnSpc>
                <a:spcPct val="100000"/>
              </a:lnSpc>
              <a:spcBef>
                <a:spcPts val="0"/>
              </a:spcBef>
              <a:spcAft>
                <a:spcPts val="0"/>
              </a:spcAft>
              <a:buSzPts val="1000"/>
              <a:buFont typeface="Times New Roman"/>
              <a:buAutoNum type="arabicPeriod"/>
            </a:pPr>
            <a:r>
              <a:rPr lang="en" sz="1000">
                <a:latin typeface="Times New Roman"/>
                <a:ea typeface="Times New Roman"/>
                <a:cs typeface="Times New Roman"/>
                <a:sym typeface="Times New Roman"/>
              </a:rPr>
              <a:t>Y. Liu, Y. Tian, B. Sun, Y. Wang and F. -Y. Wang, "Parallel LiDARs Meet the Foggy Weather," in IEEE Journal of Radio Frequency Identification, vol. 6, pp. 867-870, 2022, doi: 10.1109/JRFID.2022.3203733.</a:t>
            </a:r>
            <a:endParaRPr sz="1000">
              <a:latin typeface="Times New Roman"/>
              <a:ea typeface="Times New Roman"/>
              <a:cs typeface="Times New Roman"/>
              <a:sym typeface="Times New Roman"/>
            </a:endParaRPr>
          </a:p>
          <a:p>
            <a:pPr indent="0" lvl="0" marL="346075" rtl="0" algn="l">
              <a:lnSpc>
                <a:spcPct val="100000"/>
              </a:lnSpc>
              <a:spcBef>
                <a:spcPts val="0"/>
              </a:spcBef>
              <a:spcAft>
                <a:spcPts val="0"/>
              </a:spcAft>
              <a:buNone/>
            </a:pPr>
            <a:r>
              <a:t/>
            </a:r>
            <a:endParaRPr sz="1000">
              <a:latin typeface="Times New Roman"/>
              <a:ea typeface="Times New Roman"/>
              <a:cs typeface="Times New Roman"/>
              <a:sym typeface="Times New Roman"/>
            </a:endParaRPr>
          </a:p>
          <a:p>
            <a:pPr indent="-317500" lvl="0" marL="457200" rtl="0" algn="l">
              <a:lnSpc>
                <a:spcPct val="100000"/>
              </a:lnSpc>
              <a:spcBef>
                <a:spcPts val="0"/>
              </a:spcBef>
              <a:spcAft>
                <a:spcPts val="0"/>
              </a:spcAft>
              <a:buSzPts val="1000"/>
              <a:buFont typeface="Times New Roman"/>
              <a:buAutoNum type="arabicPeriod"/>
            </a:pPr>
            <a:r>
              <a:rPr lang="en" sz="1000">
                <a:latin typeface="Times New Roman"/>
                <a:ea typeface="Times New Roman"/>
                <a:cs typeface="Times New Roman"/>
                <a:sym typeface="Times New Roman"/>
              </a:rPr>
              <a:t>P. S. Dangas, G. Sharma, M. Pattanaik, and S. N. Singh,“Joint Impact of Fog and Aerosol Particle Size Distribution In LiDAR-Based 3D Object Detection Systems”, IEEE Transactions, 2026</a:t>
            </a:r>
            <a:endParaRPr sz="1000">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t/>
            </a:r>
            <a:endParaRPr sz="12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7"/>
          <p:cNvSpPr txBox="1"/>
          <p:nvPr>
            <p:ph idx="1" type="body"/>
          </p:nvPr>
        </p:nvSpPr>
        <p:spPr>
          <a:xfrm>
            <a:off x="819150" y="1990725"/>
            <a:ext cx="7505700" cy="2448000"/>
          </a:xfrm>
          <a:prstGeom prst="rect">
            <a:avLst/>
          </a:prstGeom>
          <a:noFill/>
          <a:ln>
            <a:noFill/>
          </a:ln>
        </p:spPr>
        <p:txBody>
          <a:bodyPr anchorCtr="0" anchor="t" bIns="68575" lIns="68575" spcFirstLastPara="1" rIns="68575" wrap="square" tIns="68575">
            <a:normAutofit/>
          </a:bodyPr>
          <a:lstStyle/>
          <a:p>
            <a:pPr indent="0" lvl="0" marL="139700" rtl="0" algn="l">
              <a:lnSpc>
                <a:spcPct val="90000"/>
              </a:lnSpc>
              <a:spcBef>
                <a:spcPts val="0"/>
              </a:spcBef>
              <a:spcAft>
                <a:spcPts val="0"/>
              </a:spcAft>
              <a:buClr>
                <a:schemeClr val="dk1"/>
              </a:buClr>
              <a:buSzPts val="1000"/>
              <a:buNone/>
            </a:pPr>
            <a:r>
              <a:rPr lang="en" sz="2000">
                <a:latin typeface="Times New Roman"/>
                <a:ea typeface="Times New Roman"/>
                <a:cs typeface="Times New Roman"/>
                <a:sym typeface="Times New Roman"/>
              </a:rPr>
              <a:t>                                     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